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D9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0"/>
    <p:restoredTop sz="94725"/>
  </p:normalViewPr>
  <p:slideViewPr>
    <p:cSldViewPr snapToGrid="0">
      <p:cViewPr varScale="1">
        <p:scale>
          <a:sx n="133" d="100"/>
          <a:sy n="133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1BB0F-CA6B-32AE-0721-2A7BE1A25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C2704D-A53D-8038-4C43-56EE80FEF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09D91-FDAB-3471-6F9A-7A695C89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FD1F09-F73D-A921-AAD3-C8A2A569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82DA3-9888-52C9-25B3-04A096D5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4106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6367A-F6A3-E0BA-9421-78624C43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695B5-59E6-2378-746F-D6BB4EADA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3F027D-5021-D8FD-618F-7573B357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E36A04-D797-025E-ACF9-1BDE5357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008E2A-9F8A-B865-15C6-09D51331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121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53689-423C-190B-EFC7-FBE5AE596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2277E2-AAFF-FE70-36FD-31871C120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A2DF2-15BC-8BFC-C2DB-B3482E21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9A3840-ED0F-A95E-7CBE-433F4BE8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C223E-86D0-4D8E-337C-040B6D3E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80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71338-6BF8-BB71-9F02-6E038F3D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69514-D00C-B44B-1A09-F8795AE1A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3817A6-E75D-7E5E-D837-1C0C1CE6C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20C86B-F342-4D66-8072-9B91552B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8D6AA8-0636-2A85-AB86-C2F9CB91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11C8F3-F372-76E6-CA6F-A3C59FAEF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946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257C2-085F-890A-E95A-587B8E7D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2C648-B458-9E73-E972-7275B00C5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480A6F-0142-57B1-64A1-55AAED96F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C30820-0EB2-FD8E-6A0F-DDB585519E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73DCD3-BC19-8E54-371E-B24754697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DDDE9-EA1E-8ECD-A0D1-515411E1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7B8EF1-F34C-9C30-2AE4-8B88D83D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A85D0A-FAE5-7832-738D-13EECD31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214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F6973-304A-8FCB-DF75-EB89FAAA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5D4E25-2098-0BCE-BD25-7B25E15A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2AD007-48D1-86DE-E1C9-75C558BC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275F21-AC74-0C10-772B-412899A62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562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5E22DE-197C-D74E-C675-6B1BE555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18299D-8011-7120-81D2-72FCF89A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11369E-C320-B965-17EE-F5FCEB46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131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2B4EA-5631-0733-7C2F-CF6EA5FD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956EE-CAFE-C1BE-3A31-10F49B5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373826-D289-FBD2-1485-BFA279D16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3FE364-365D-32F1-088E-69707578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F598B9-E8CB-01E3-9613-04E87AB9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F19C3E-9BA4-5F47-2BE8-962FD733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704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8C5D8-4B4F-4F9C-17D4-C6E9535BA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3785FD-E8E9-9369-B666-78E7C9191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2519E0-3451-CDD8-DD79-B41904C83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5BCB46-633B-BAE7-55F7-7DBCBF32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1D9F3D-881D-BCDC-6901-143A9C593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489E0F-FA74-D067-D7ED-84FA35F6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43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CE29F-E8FA-549C-4560-3EE9D912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AF30AF-FE40-4950-369B-68AD9169C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D27B0-6A6C-F0D2-07A3-9C2F09F4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B57295-84D6-33F0-0BAB-B8E5C2A7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6A0DF1-8714-F27A-45A8-A8ADAC19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607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C9AF4D-F69B-94F0-CC24-54A84A9FF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FE280F-03FE-9B16-978B-7D241FA51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235A4-0637-5F11-2015-00CE8BAE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A9D73E-DC4B-F85E-8693-7CD80DAD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40113-0F2D-F2BC-8155-58E46E12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945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8D5D62-6ECF-6C38-70D9-954B4C5D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DEA156-7F30-3C5F-F55D-C4442978A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EC052-39E9-F7CD-B4CD-7231CDCF7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EC3A1-3B63-5B40-A695-000CA19712A6}" type="datetimeFigureOut">
              <a:rPr kumimoji="1" lang="zh-CN" altLang="en-US" smtClean="0"/>
              <a:t>2026/4/27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B3DC22-5D10-96FF-829E-345AB1327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549BE2-83B5-F9BA-256C-B7C755DD0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DC76D-D3E8-084A-B6AC-D6A7C7E50E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886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E52BF1-062F-8202-54FD-245E9608D9BE}"/>
              </a:ext>
            </a:extLst>
          </p:cNvPr>
          <p:cNvSpPr txBox="1"/>
          <p:nvPr/>
        </p:nvSpPr>
        <p:spPr>
          <a:xfrm>
            <a:off x="346841" y="784987"/>
            <a:ext cx="10770338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题目：一个正整数可以拆分成若干个正整数的和，如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5=1+2+2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。输出一个整数的所有拆分组合。</a:t>
            </a:r>
            <a:endParaRPr lang="en-US" altLang="zh-CN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定义： 设函数 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f(</a:t>
            </a: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n,m,i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)  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表示输出整数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拆分成不大于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的所有组合，</a:t>
            </a:r>
            <a:endParaRPr kumimoji="1"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代表一个拆分组合的第</a:t>
            </a: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个正整数，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a[</a:t>
            </a: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]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记录这个正整数。</a:t>
            </a:r>
            <a:endParaRPr kumimoji="1"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思路：分治思想是把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一个复杂的问题分成两个或更多的相同或相似的子问题。</a:t>
            </a:r>
            <a:endParaRPr lang="en-US" altLang="zh-CN" sz="2000" b="0" i="0" dirty="0">
              <a:solidFill>
                <a:srgbClr val="333333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本题可以分成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）含有至少一个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的组合。 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）不含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的组合，然后利用递归不断分成两个更小的问题直到直接可解。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举例：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f(3,3,1)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拆分成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）不含“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”的组合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f(3,2,1) 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和   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）含有“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”的组合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f(0,3,2)</a:t>
            </a: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，继续这一过程。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递归过程见下图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altLang="zh-C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kumimoji="1"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6ADFFC-32FA-ABBE-6546-E32DD9A26E89}"/>
              </a:ext>
            </a:extLst>
          </p:cNvPr>
          <p:cNvSpPr txBox="1"/>
          <p:nvPr/>
        </p:nvSpPr>
        <p:spPr>
          <a:xfrm>
            <a:off x="346841" y="200212"/>
            <a:ext cx="4177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3200" b="1" dirty="0"/>
              <a:t>递归例题</a:t>
            </a:r>
            <a:r>
              <a:rPr kumimoji="1" lang="en-US" altLang="zh-CN" sz="3200" b="1" dirty="0"/>
              <a:t>-</a:t>
            </a:r>
            <a:r>
              <a:rPr kumimoji="1" lang="zh-CN" altLang="en-US" sz="3200" b="1" dirty="0"/>
              <a:t>整数拆分</a:t>
            </a:r>
          </a:p>
        </p:txBody>
      </p:sp>
    </p:spTree>
    <p:extLst>
      <p:ext uri="{BB962C8B-B14F-4D97-AF65-F5344CB8AC3E}">
        <p14:creationId xmlns:p14="http://schemas.microsoft.com/office/powerpoint/2010/main" val="3742181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D309A6-6E60-A565-2AE0-8705A3AFB10F}"/>
              </a:ext>
            </a:extLst>
          </p:cNvPr>
          <p:cNvSpPr txBox="1"/>
          <p:nvPr/>
        </p:nvSpPr>
        <p:spPr>
          <a:xfrm>
            <a:off x="4888701" y="635525"/>
            <a:ext cx="979755" cy="369332"/>
          </a:xfrm>
          <a:prstGeom prst="rect">
            <a:avLst/>
          </a:prstGeom>
          <a:noFill/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 extrusionH="76200" contourW="12700" prstMaterial="matte">
            <a:bevelT/>
            <a:extrusionClr>
              <a:schemeClr val="accent1">
                <a:lumMod val="40000"/>
                <a:lumOff val="60000"/>
              </a:schemeClr>
            </a:extrusionClr>
            <a:contourClr>
              <a:schemeClr val="accent4">
                <a:lumMod val="40000"/>
                <a:lumOff val="60000"/>
              </a:schemeClr>
            </a:contourClr>
          </a:sp3d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f(3, 3, 1)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5B2BD1-F194-74B1-2942-6B0388B765E8}"/>
              </a:ext>
            </a:extLst>
          </p:cNvPr>
          <p:cNvSpPr txBox="1"/>
          <p:nvPr/>
        </p:nvSpPr>
        <p:spPr>
          <a:xfrm>
            <a:off x="3316186" y="1462759"/>
            <a:ext cx="979755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f(0, 3, 2)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DBD1B3-7DA7-0F47-A64F-55874BFE4868}"/>
              </a:ext>
            </a:extLst>
          </p:cNvPr>
          <p:cNvSpPr txBox="1"/>
          <p:nvPr/>
        </p:nvSpPr>
        <p:spPr>
          <a:xfrm>
            <a:off x="6776868" y="1466769"/>
            <a:ext cx="979755" cy="369332"/>
          </a:xfrm>
          <a:prstGeom prst="rect">
            <a:avLst/>
          </a:prstGeom>
          <a:noFill/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 extrusionH="76200" contourW="12700" prstMaterial="matte">
            <a:bevelT/>
            <a:extrusionClr>
              <a:schemeClr val="accent1">
                <a:lumMod val="40000"/>
                <a:lumOff val="60000"/>
              </a:schemeClr>
            </a:extrusionClr>
            <a:contourClr>
              <a:schemeClr val="accent4">
                <a:lumMod val="40000"/>
                <a:lumOff val="60000"/>
              </a:schemeClr>
            </a:contourClr>
          </a:sp3d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f(3, 2, 1)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8D8FF1-9665-F88D-7BB1-0DD37CBAA87C}"/>
              </a:ext>
            </a:extLst>
          </p:cNvPr>
          <p:cNvSpPr txBox="1"/>
          <p:nvPr/>
        </p:nvSpPr>
        <p:spPr>
          <a:xfrm>
            <a:off x="5122916" y="2425646"/>
            <a:ext cx="979755" cy="369332"/>
          </a:xfrm>
          <a:prstGeom prst="rect">
            <a:avLst/>
          </a:prstGeom>
          <a:noFill/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 extrusionH="76200" contourW="12700" prstMaterial="matte">
            <a:bevelT/>
            <a:extrusionClr>
              <a:schemeClr val="accent1">
                <a:lumMod val="40000"/>
                <a:lumOff val="60000"/>
              </a:schemeClr>
            </a:extrusionClr>
            <a:contourClr>
              <a:schemeClr val="accent4">
                <a:lumMod val="40000"/>
                <a:lumOff val="60000"/>
              </a:schemeClr>
            </a:contourClr>
          </a:sp3d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f(1, 2, 2)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163603-FD90-333F-190B-9450C305A9D1}"/>
              </a:ext>
            </a:extLst>
          </p:cNvPr>
          <p:cNvSpPr txBox="1"/>
          <p:nvPr/>
        </p:nvSpPr>
        <p:spPr>
          <a:xfrm>
            <a:off x="8484505" y="2425646"/>
            <a:ext cx="979755" cy="369332"/>
          </a:xfrm>
          <a:prstGeom prst="rect">
            <a:avLst/>
          </a:prstGeom>
          <a:noFill/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 extrusionH="76200" contourW="12700" prstMaterial="matte">
            <a:bevelT/>
            <a:extrusionClr>
              <a:schemeClr val="accent1">
                <a:lumMod val="40000"/>
                <a:lumOff val="60000"/>
              </a:schemeClr>
            </a:extrusionClr>
            <a:contourClr>
              <a:schemeClr val="accent4">
                <a:lumMod val="40000"/>
                <a:lumOff val="60000"/>
              </a:schemeClr>
            </a:contourClr>
          </a:sp3d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f(3, 1, 1)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E43995-ECC2-6121-F547-6E1311F6D468}"/>
              </a:ext>
            </a:extLst>
          </p:cNvPr>
          <p:cNvSpPr txBox="1"/>
          <p:nvPr/>
        </p:nvSpPr>
        <p:spPr>
          <a:xfrm>
            <a:off x="5122916" y="2824550"/>
            <a:ext cx="979755" cy="369332"/>
          </a:xfrm>
          <a:prstGeom prst="rect">
            <a:avLst/>
          </a:prstGeom>
          <a:noFill/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 extrusionH="76200" contourW="12700" prstMaterial="matte">
            <a:bevelT/>
            <a:extrusionClr>
              <a:schemeClr val="accent1">
                <a:lumMod val="40000"/>
                <a:lumOff val="60000"/>
              </a:schemeClr>
            </a:extrusionClr>
            <a:contourClr>
              <a:schemeClr val="accent4">
                <a:lumMod val="40000"/>
                <a:lumOff val="60000"/>
              </a:schemeClr>
            </a:contourClr>
          </a:sp3d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f(1, 1, 2)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2AC481-81D8-DFE9-1B0A-8E333B1E85EA}"/>
              </a:ext>
            </a:extLst>
          </p:cNvPr>
          <p:cNvSpPr txBox="1"/>
          <p:nvPr/>
        </p:nvSpPr>
        <p:spPr>
          <a:xfrm>
            <a:off x="4398823" y="3846435"/>
            <a:ext cx="979755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f(0, 1, 3)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04AF5C-C7AE-3B57-9093-B78EEAE3FCDA}"/>
              </a:ext>
            </a:extLst>
          </p:cNvPr>
          <p:cNvSpPr txBox="1"/>
          <p:nvPr/>
        </p:nvSpPr>
        <p:spPr>
          <a:xfrm>
            <a:off x="7847893" y="3458817"/>
            <a:ext cx="979755" cy="369332"/>
          </a:xfrm>
          <a:prstGeom prst="rect">
            <a:avLst/>
          </a:prstGeom>
          <a:noFill/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 extrusionH="76200" contourW="12700" prstMaterial="matte">
            <a:bevelT/>
            <a:extrusionClr>
              <a:schemeClr val="accent1">
                <a:lumMod val="40000"/>
                <a:lumOff val="60000"/>
              </a:schemeClr>
            </a:extrusionClr>
            <a:contourClr>
              <a:schemeClr val="accent4">
                <a:lumMod val="40000"/>
                <a:lumOff val="60000"/>
              </a:schemeClr>
            </a:contourClr>
          </a:sp3d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f(2, 1, 2)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B91E5B-DC55-F66A-6A6E-045485242FB1}"/>
              </a:ext>
            </a:extLst>
          </p:cNvPr>
          <p:cNvSpPr txBox="1"/>
          <p:nvPr/>
        </p:nvSpPr>
        <p:spPr>
          <a:xfrm>
            <a:off x="7203933" y="4558221"/>
            <a:ext cx="979755" cy="369332"/>
          </a:xfrm>
          <a:prstGeom prst="rect">
            <a:avLst/>
          </a:prstGeom>
          <a:noFill/>
          <a:ln>
            <a:solidFill>
              <a:schemeClr val="tx2"/>
            </a:solidFill>
          </a:ln>
          <a:scene3d>
            <a:camera prst="orthographicFront"/>
            <a:lightRig rig="threePt" dir="t"/>
          </a:scene3d>
          <a:sp3d extrusionH="76200" contourW="12700" prstMaterial="matte">
            <a:bevelT/>
            <a:extrusionClr>
              <a:schemeClr val="accent1">
                <a:lumMod val="40000"/>
                <a:lumOff val="60000"/>
              </a:schemeClr>
            </a:extrusionClr>
            <a:contourClr>
              <a:schemeClr val="accent4">
                <a:lumMod val="40000"/>
                <a:lumOff val="60000"/>
              </a:schemeClr>
            </a:contourClr>
          </a:sp3d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f(1, 1, 3)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3F2ADD-4A38-5766-7071-9FC88670CE81}"/>
              </a:ext>
            </a:extLst>
          </p:cNvPr>
          <p:cNvSpPr txBox="1"/>
          <p:nvPr/>
        </p:nvSpPr>
        <p:spPr>
          <a:xfrm>
            <a:off x="6583413" y="5595402"/>
            <a:ext cx="979755" cy="36933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/>
            </a:lvl1pPr>
          </a:lstStyle>
          <a:p>
            <a:r>
              <a:rPr lang="en-US" altLang="zh-CN" dirty="0"/>
              <a:t>f(0, 1, 4)</a:t>
            </a:r>
            <a:endParaRPr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B9DC513F-89F2-10B9-8055-E142AE14CB60}"/>
              </a:ext>
            </a:extLst>
          </p:cNvPr>
          <p:cNvCxnSpPr>
            <a:cxnSpLocks/>
          </p:cNvCxnSpPr>
          <p:nvPr/>
        </p:nvCxnSpPr>
        <p:spPr>
          <a:xfrm flipH="1">
            <a:off x="3863864" y="1034429"/>
            <a:ext cx="1514714" cy="374903"/>
          </a:xfrm>
          <a:prstGeom prst="straightConnector1">
            <a:avLst/>
          </a:prstGeom>
          <a:ln w="47625" cmpd="dbl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7253093-737A-E54B-25A8-016B8DBAEAE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378579" y="1004857"/>
            <a:ext cx="1825354" cy="410045"/>
          </a:xfrm>
          <a:prstGeom prst="straightConnector1">
            <a:avLst/>
          </a:prstGeom>
          <a:ln w="47625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7E6AB0B-1DF1-9C4D-B97A-89A4B8F77D22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5612794" y="1836101"/>
            <a:ext cx="1653951" cy="589545"/>
          </a:xfrm>
          <a:prstGeom prst="straightConnector1">
            <a:avLst/>
          </a:prstGeom>
          <a:ln w="47625" cmpd="dbl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2E8A6839-E91D-D711-E8A5-1179EEF7EB2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266745" y="1832091"/>
            <a:ext cx="1707638" cy="593555"/>
          </a:xfrm>
          <a:prstGeom prst="straightConnector1">
            <a:avLst/>
          </a:prstGeom>
          <a:ln w="47625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B685E7-A10B-00E1-A8E8-0C1664AF3859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8337771" y="2790968"/>
            <a:ext cx="636611" cy="667849"/>
          </a:xfrm>
          <a:prstGeom prst="straightConnector1">
            <a:avLst/>
          </a:prstGeom>
          <a:ln w="47625" cmpd="dbl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4846C919-0B9D-F78A-4DA4-AE48A01AE24E}"/>
              </a:ext>
            </a:extLst>
          </p:cNvPr>
          <p:cNvCxnSpPr>
            <a:cxnSpLocks/>
          </p:cNvCxnSpPr>
          <p:nvPr/>
        </p:nvCxnSpPr>
        <p:spPr>
          <a:xfrm flipH="1">
            <a:off x="7701159" y="3849433"/>
            <a:ext cx="636611" cy="667849"/>
          </a:xfrm>
          <a:prstGeom prst="straightConnector1">
            <a:avLst/>
          </a:prstGeom>
          <a:ln w="47625" cmpd="dbl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C58540A-C242-A864-6E20-D904785E1014}"/>
              </a:ext>
            </a:extLst>
          </p:cNvPr>
          <p:cNvCxnSpPr>
            <a:cxnSpLocks/>
          </p:cNvCxnSpPr>
          <p:nvPr/>
        </p:nvCxnSpPr>
        <p:spPr>
          <a:xfrm flipH="1">
            <a:off x="7073291" y="4927553"/>
            <a:ext cx="636611" cy="667849"/>
          </a:xfrm>
          <a:prstGeom prst="straightConnector1">
            <a:avLst/>
          </a:prstGeom>
          <a:ln w="47625" cmpd="dbl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11342222-2BC1-1309-6766-8AEDD757B359}"/>
              </a:ext>
            </a:extLst>
          </p:cNvPr>
          <p:cNvSpPr txBox="1"/>
          <p:nvPr/>
        </p:nvSpPr>
        <p:spPr>
          <a:xfrm>
            <a:off x="3788942" y="882048"/>
            <a:ext cx="83227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a[1]=3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9E0399C-3700-CD96-2CCE-B843E4DB39CB}"/>
              </a:ext>
            </a:extLst>
          </p:cNvPr>
          <p:cNvCxnSpPr>
            <a:cxnSpLocks/>
          </p:cNvCxnSpPr>
          <p:nvPr/>
        </p:nvCxnSpPr>
        <p:spPr>
          <a:xfrm flipH="1">
            <a:off x="4976182" y="3195526"/>
            <a:ext cx="636611" cy="667849"/>
          </a:xfrm>
          <a:prstGeom prst="straightConnector1">
            <a:avLst/>
          </a:prstGeom>
          <a:ln w="47625" cmpd="dbl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ED68ACF-C28A-C19E-0CE0-D423BEACA518}"/>
              </a:ext>
            </a:extLst>
          </p:cNvPr>
          <p:cNvSpPr txBox="1"/>
          <p:nvPr/>
        </p:nvSpPr>
        <p:spPr>
          <a:xfrm>
            <a:off x="5751134" y="179576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a[1]=2</a:t>
            </a:r>
            <a:endParaRPr kumimoji="1"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64508E0-C169-B2C1-1B01-4B3A11138ADF}"/>
              </a:ext>
            </a:extLst>
          </p:cNvPr>
          <p:cNvSpPr txBox="1"/>
          <p:nvPr/>
        </p:nvSpPr>
        <p:spPr>
          <a:xfrm>
            <a:off x="4437742" y="327415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a[2]=1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9369BA6-0026-8B98-F090-686CCC882FA8}"/>
              </a:ext>
            </a:extLst>
          </p:cNvPr>
          <p:cNvSpPr txBox="1"/>
          <p:nvPr/>
        </p:nvSpPr>
        <p:spPr>
          <a:xfrm>
            <a:off x="7729467" y="284993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a[1]=1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A1A236-7515-7F43-79EE-432FB9341E26}"/>
              </a:ext>
            </a:extLst>
          </p:cNvPr>
          <p:cNvSpPr txBox="1"/>
          <p:nvPr/>
        </p:nvSpPr>
        <p:spPr>
          <a:xfrm>
            <a:off x="7073290" y="387904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6683EC-2416-5421-61C7-55402C8A0EBF}"/>
              </a:ext>
            </a:extLst>
          </p:cNvPr>
          <p:cNvSpPr txBox="1"/>
          <p:nvPr/>
        </p:nvSpPr>
        <p:spPr>
          <a:xfrm>
            <a:off x="6439769" y="499292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a[3]=1</a:t>
            </a:r>
            <a:endParaRPr kumimoji="1" lang="zh-CN" altLang="en-US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149A7D3D-E8B5-95FD-C99B-E3F4880B546D}"/>
              </a:ext>
            </a:extLst>
          </p:cNvPr>
          <p:cNvCxnSpPr>
            <a:cxnSpLocks/>
          </p:cNvCxnSpPr>
          <p:nvPr/>
        </p:nvCxnSpPr>
        <p:spPr>
          <a:xfrm>
            <a:off x="5572727" y="3222004"/>
            <a:ext cx="1019822" cy="583718"/>
          </a:xfrm>
          <a:prstGeom prst="straightConnector1">
            <a:avLst/>
          </a:prstGeom>
          <a:ln w="47625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DFD19D5-ED13-9ABE-4D20-C6D6F3EADB1F}"/>
              </a:ext>
            </a:extLst>
          </p:cNvPr>
          <p:cNvCxnSpPr>
            <a:cxnSpLocks/>
          </p:cNvCxnSpPr>
          <p:nvPr/>
        </p:nvCxnSpPr>
        <p:spPr>
          <a:xfrm>
            <a:off x="8954349" y="2790968"/>
            <a:ext cx="1019822" cy="583718"/>
          </a:xfrm>
          <a:prstGeom prst="straightConnector1">
            <a:avLst/>
          </a:prstGeom>
          <a:ln w="47625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96338560-8A22-91EB-41F5-E87165A95C45}"/>
              </a:ext>
            </a:extLst>
          </p:cNvPr>
          <p:cNvCxnSpPr>
            <a:cxnSpLocks/>
          </p:cNvCxnSpPr>
          <p:nvPr/>
        </p:nvCxnSpPr>
        <p:spPr>
          <a:xfrm>
            <a:off x="8317737" y="3846435"/>
            <a:ext cx="1019822" cy="583718"/>
          </a:xfrm>
          <a:prstGeom prst="straightConnector1">
            <a:avLst/>
          </a:prstGeom>
          <a:ln w="47625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EE41F011-AD31-987E-2D47-9F07BFF1D6D1}"/>
              </a:ext>
            </a:extLst>
          </p:cNvPr>
          <p:cNvCxnSpPr>
            <a:cxnSpLocks/>
          </p:cNvCxnSpPr>
          <p:nvPr/>
        </p:nvCxnSpPr>
        <p:spPr>
          <a:xfrm>
            <a:off x="7701159" y="4927553"/>
            <a:ext cx="1019822" cy="583718"/>
          </a:xfrm>
          <a:prstGeom prst="straightConnector1">
            <a:avLst/>
          </a:prstGeom>
          <a:ln w="47625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乘 46">
            <a:extLst>
              <a:ext uri="{FF2B5EF4-FFF2-40B4-BE49-F238E27FC236}">
                <a16:creationId xmlns:a16="http://schemas.microsoft.com/office/drawing/2014/main" id="{767E1E63-4801-C159-18A7-C37ED5203F97}"/>
              </a:ext>
            </a:extLst>
          </p:cNvPr>
          <p:cNvSpPr/>
          <p:nvPr/>
        </p:nvSpPr>
        <p:spPr>
          <a:xfrm>
            <a:off x="5914591" y="3211192"/>
            <a:ext cx="452387" cy="66784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乘 47">
            <a:extLst>
              <a:ext uri="{FF2B5EF4-FFF2-40B4-BE49-F238E27FC236}">
                <a16:creationId xmlns:a16="http://schemas.microsoft.com/office/drawing/2014/main" id="{B1090142-A7C1-5A58-FCCE-232EEED96D4B}"/>
              </a:ext>
            </a:extLst>
          </p:cNvPr>
          <p:cNvSpPr/>
          <p:nvPr/>
        </p:nvSpPr>
        <p:spPr>
          <a:xfrm>
            <a:off x="9266096" y="2787407"/>
            <a:ext cx="452387" cy="667849"/>
          </a:xfrm>
          <a:prstGeom prst="mathMultiply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乘 48">
            <a:extLst>
              <a:ext uri="{FF2B5EF4-FFF2-40B4-BE49-F238E27FC236}">
                <a16:creationId xmlns:a16="http://schemas.microsoft.com/office/drawing/2014/main" id="{15B46081-C9DC-CFA7-2782-C47628577953}"/>
              </a:ext>
            </a:extLst>
          </p:cNvPr>
          <p:cNvSpPr/>
          <p:nvPr/>
        </p:nvSpPr>
        <p:spPr>
          <a:xfrm>
            <a:off x="8656076" y="3823267"/>
            <a:ext cx="452387" cy="667849"/>
          </a:xfrm>
          <a:prstGeom prst="mathMultiply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乘 49">
            <a:extLst>
              <a:ext uri="{FF2B5EF4-FFF2-40B4-BE49-F238E27FC236}">
                <a16:creationId xmlns:a16="http://schemas.microsoft.com/office/drawing/2014/main" id="{8B177A31-7B15-AF35-AE60-42CAF70190DB}"/>
              </a:ext>
            </a:extLst>
          </p:cNvPr>
          <p:cNvSpPr/>
          <p:nvPr/>
        </p:nvSpPr>
        <p:spPr>
          <a:xfrm>
            <a:off x="8091543" y="4968492"/>
            <a:ext cx="452387" cy="667849"/>
          </a:xfrm>
          <a:prstGeom prst="mathMultiply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圆角右箭头 51">
            <a:extLst>
              <a:ext uri="{FF2B5EF4-FFF2-40B4-BE49-F238E27FC236}">
                <a16:creationId xmlns:a16="http://schemas.microsoft.com/office/drawing/2014/main" id="{C34E26EB-EB4B-7F23-3116-50CA965581C3}"/>
              </a:ext>
            </a:extLst>
          </p:cNvPr>
          <p:cNvSpPr/>
          <p:nvPr/>
        </p:nvSpPr>
        <p:spPr>
          <a:xfrm rot="13702908" flipH="1">
            <a:off x="4782758" y="2703501"/>
            <a:ext cx="375746" cy="348670"/>
          </a:xfrm>
          <a:prstGeom prst="bentArrow">
            <a:avLst>
              <a:gd name="adj1" fmla="val 17794"/>
              <a:gd name="adj2" fmla="val 17074"/>
              <a:gd name="adj3" fmla="val 25000"/>
              <a:gd name="adj4" fmla="val 4375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72BD1AE-BD4D-EC97-9DA7-C274FEE26AE2}"/>
              </a:ext>
            </a:extLst>
          </p:cNvPr>
          <p:cNvSpPr txBox="1"/>
          <p:nvPr/>
        </p:nvSpPr>
        <p:spPr>
          <a:xfrm>
            <a:off x="4185966" y="26309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dirty="0"/>
              <a:t>修正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A387CF8-74DD-6BAA-9CC9-FA8E7C75CF64}"/>
              </a:ext>
            </a:extLst>
          </p:cNvPr>
          <p:cNvSpPr txBox="1"/>
          <p:nvPr/>
        </p:nvSpPr>
        <p:spPr>
          <a:xfrm>
            <a:off x="6358333" y="882048"/>
            <a:ext cx="965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dirty="0"/>
              <a:t>不含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F80AA6E-A425-99D7-9780-D0D6504165C0}"/>
              </a:ext>
            </a:extLst>
          </p:cNvPr>
          <p:cNvSpPr txBox="1"/>
          <p:nvPr/>
        </p:nvSpPr>
        <p:spPr>
          <a:xfrm>
            <a:off x="8199518" y="1810807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dirty="0"/>
              <a:t>不含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676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1A761A-4B0F-1384-3505-CFFB49A184E5}"/>
              </a:ext>
            </a:extLst>
          </p:cNvPr>
          <p:cNvSpPr txBox="1"/>
          <p:nvPr/>
        </p:nvSpPr>
        <p:spPr>
          <a:xfrm>
            <a:off x="2966112" y="1797551"/>
            <a:ext cx="2645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输出拆分</a:t>
            </a:r>
            <a:r>
              <a:rPr kumimoji="1" lang="en-US" altLang="zh-CN" sz="2400" dirty="0"/>
              <a:t>a[ ]</a:t>
            </a:r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6387A2-2CA8-B2CC-861E-216FE5309121}"/>
              </a:ext>
            </a:extLst>
          </p:cNvPr>
          <p:cNvSpPr txBox="1"/>
          <p:nvPr/>
        </p:nvSpPr>
        <p:spPr>
          <a:xfrm>
            <a:off x="7118783" y="1797550"/>
            <a:ext cx="1029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/>
              <a:t>当</a:t>
            </a:r>
            <a:r>
              <a:rPr kumimoji="1" lang="en-US" altLang="zh-CN" sz="2400" dirty="0"/>
              <a:t>n=0</a:t>
            </a:r>
            <a:endParaRPr kumimoji="1"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A9589C-812E-B2F6-2249-059E0DC9A715}"/>
              </a:ext>
            </a:extLst>
          </p:cNvPr>
          <p:cNvSpPr txBox="1"/>
          <p:nvPr/>
        </p:nvSpPr>
        <p:spPr>
          <a:xfrm>
            <a:off x="7118783" y="3327184"/>
            <a:ext cx="4445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当</a:t>
            </a:r>
            <a:r>
              <a:rPr kumimoji="1" lang="en-US" altLang="zh-CN" sz="2400" dirty="0"/>
              <a:t>m&gt;1</a:t>
            </a:r>
            <a:r>
              <a:rPr kumimoji="1" lang="zh-CN" altLang="en-US" sz="2400" dirty="0"/>
              <a:t> 且如果</a:t>
            </a:r>
            <a:r>
              <a:rPr kumimoji="1" lang="en-US" altLang="zh-CN" sz="2400" dirty="0"/>
              <a:t>n&lt;m, </a:t>
            </a:r>
            <a:r>
              <a:rPr kumimoji="1" lang="zh-CN" altLang="en-US" sz="2400" dirty="0"/>
              <a:t>修正</a:t>
            </a:r>
            <a:r>
              <a:rPr kumimoji="1" lang="en-US" altLang="zh-CN" sz="2400" dirty="0"/>
              <a:t>m=n</a:t>
            </a:r>
            <a:r>
              <a:rPr kumimoji="1" lang="zh-CN" altLang="en-US" sz="2400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A8C187-74AC-6DDA-2CC0-F2BE95D6645C}"/>
              </a:ext>
            </a:extLst>
          </p:cNvPr>
          <p:cNvSpPr txBox="1"/>
          <p:nvPr/>
        </p:nvSpPr>
        <p:spPr>
          <a:xfrm>
            <a:off x="2829133" y="3327185"/>
            <a:ext cx="1641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/>
              <a:t>f(n, m-1,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),</a:t>
            </a:r>
            <a:endParaRPr kumimoji="1"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927C18-A2C9-051E-C5EF-98CC42C0A807}"/>
              </a:ext>
            </a:extLst>
          </p:cNvPr>
          <p:cNvSpPr txBox="1"/>
          <p:nvPr/>
        </p:nvSpPr>
        <p:spPr>
          <a:xfrm>
            <a:off x="4477447" y="3333506"/>
            <a:ext cx="2881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  </a:t>
            </a:r>
            <a:r>
              <a:rPr kumimoji="1" lang="en-US" altLang="zh-CN" sz="2400" dirty="0"/>
              <a:t>f(n-m,  m, i+1)</a:t>
            </a:r>
            <a:endParaRPr kumimoji="1"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0820FD-48D8-4FF5-7A50-109CF979B066}"/>
              </a:ext>
            </a:extLst>
          </p:cNvPr>
          <p:cNvSpPr txBox="1"/>
          <p:nvPr/>
        </p:nvSpPr>
        <p:spPr>
          <a:xfrm>
            <a:off x="7123844" y="4995683"/>
            <a:ext cx="5216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当</a:t>
            </a:r>
            <a:r>
              <a:rPr kumimoji="1" lang="en-US" altLang="zh-CN" sz="2400" dirty="0"/>
              <a:t>m=1</a:t>
            </a:r>
            <a:r>
              <a:rPr kumimoji="1" lang="zh-CN" altLang="en-US" sz="2400" dirty="0"/>
              <a:t>且如果</a:t>
            </a:r>
            <a:r>
              <a:rPr kumimoji="1" lang="en-US" altLang="zh-CN" sz="2400" dirty="0"/>
              <a:t>n&lt;m, </a:t>
            </a:r>
            <a:r>
              <a:rPr kumimoji="1" lang="zh-CN" altLang="en-US" sz="2400" dirty="0"/>
              <a:t>修正</a:t>
            </a:r>
            <a:r>
              <a:rPr kumimoji="1" lang="en-US" altLang="zh-CN" sz="2400" dirty="0"/>
              <a:t>m=n</a:t>
            </a:r>
            <a:r>
              <a:rPr kumimoji="1" lang="zh-CN" altLang="en-US" sz="2400" dirty="0"/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0FFA62-9E84-CC4B-89F1-789B9420EBE6}"/>
              </a:ext>
            </a:extLst>
          </p:cNvPr>
          <p:cNvSpPr txBox="1"/>
          <p:nvPr/>
        </p:nvSpPr>
        <p:spPr>
          <a:xfrm>
            <a:off x="2891016" y="4995684"/>
            <a:ext cx="3129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dirty="0"/>
              <a:t>f(n-m,  m, i+1)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AF45B4-2CF2-EB13-21A7-55001DAC81EF}"/>
              </a:ext>
            </a:extLst>
          </p:cNvPr>
          <p:cNvSpPr txBox="1"/>
          <p:nvPr/>
        </p:nvSpPr>
        <p:spPr>
          <a:xfrm>
            <a:off x="311277" y="3450409"/>
            <a:ext cx="1430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800" dirty="0"/>
              <a:t>f(n, m, </a:t>
            </a:r>
            <a:r>
              <a:rPr kumimoji="1" lang="en-US" altLang="zh-CN" sz="2800" dirty="0" err="1"/>
              <a:t>i</a:t>
            </a:r>
            <a:r>
              <a:rPr kumimoji="1" lang="en-US" altLang="zh-CN" sz="2800" dirty="0"/>
              <a:t>)</a:t>
            </a:r>
            <a:endParaRPr kumimoji="1" lang="zh-CN" altLang="en-US" sz="2800" dirty="0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F8B84C74-2DE6-EC3C-E7B6-D11FF7E21993}"/>
              </a:ext>
            </a:extLst>
          </p:cNvPr>
          <p:cNvSpPr/>
          <p:nvPr/>
        </p:nvSpPr>
        <p:spPr>
          <a:xfrm>
            <a:off x="2459836" y="2034816"/>
            <a:ext cx="298384" cy="31917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51540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FAD16FB-2A8B-5663-3D92-EE9B7F26C105}"/>
              </a:ext>
            </a:extLst>
          </p:cNvPr>
          <p:cNvSpPr txBox="1"/>
          <p:nvPr/>
        </p:nvSpPr>
        <p:spPr>
          <a:xfrm>
            <a:off x="1046748" y="470333"/>
            <a:ext cx="8876898" cy="6040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2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AF00DB"/>
                </a:solidFill>
                <a:latin typeface="Menlo" panose="020B0609030804020204" pitchFamily="49" charset="0"/>
              </a:rPr>
              <a:t>  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puta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2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输出数组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a[1]..[</a:t>
            </a:r>
            <a:r>
              <a:rPr lang="en-US" altLang="zh-CN" sz="200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,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int a[N];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合法性调整</a:t>
            </a:r>
            <a:endParaRPr lang="zh-CN" altLang="en-US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不含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m</a:t>
            </a:r>
            <a:endParaRPr lang="en-US" altLang="zh-CN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2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含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m </a:t>
            </a:r>
            <a:endParaRPr lang="en-US" altLang="zh-CN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20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b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altLang="zh-CN" sz="20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479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DD215-69E6-2C8F-FA60-E1105AC8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E73FE4-4619-66CE-A57B-EBE2539C7439}"/>
              </a:ext>
            </a:extLst>
          </p:cNvPr>
          <p:cNvSpPr txBox="1"/>
          <p:nvPr/>
        </p:nvSpPr>
        <p:spPr>
          <a:xfrm>
            <a:off x="346841" y="784987"/>
            <a:ext cx="1077033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题目：输出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由数字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到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N&lt;=9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）组成的所有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位数字排列，每个数字只出现一次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定义： 设函数 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f(n, </a:t>
            </a: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)  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表示输出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位数字组合，</a:t>
            </a: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代表一个枚举第</a:t>
            </a: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个正整数，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a[</a:t>
            </a:r>
            <a:r>
              <a:rPr kumimoji="1" lang="en-US" altLang="zh-CN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kumimoji="1"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]</a:t>
            </a:r>
            <a:r>
              <a:rPr kumimoji="1" lang="zh-CN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记录这个正整数。</a:t>
            </a:r>
            <a:endParaRPr kumimoji="1"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his[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]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表示数字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是否已用。</a:t>
            </a:r>
            <a:endParaRPr lang="en-US" altLang="zh-C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思路：用深搜的思想，将一个排列分成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步，每一步最多有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个选择，每次选择需判断该数字是否已用。</a:t>
            </a:r>
            <a:endParaRPr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altLang="zh-C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kumimoji="1" lang="en-US" altLang="zh-CN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8CCB59-9C27-E286-501E-E1446A8280E9}"/>
              </a:ext>
            </a:extLst>
          </p:cNvPr>
          <p:cNvSpPr txBox="1"/>
          <p:nvPr/>
        </p:nvSpPr>
        <p:spPr>
          <a:xfrm>
            <a:off x="346841" y="200212"/>
            <a:ext cx="61598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3200" b="1" dirty="0"/>
              <a:t>递归和深搜</a:t>
            </a:r>
            <a:r>
              <a:rPr kumimoji="1" lang="en-US" altLang="zh-CN" sz="3200" b="1" dirty="0"/>
              <a:t>——</a:t>
            </a:r>
            <a:r>
              <a:rPr kumimoji="1" lang="zh-CN" altLang="en-US" sz="3200" b="1" dirty="0"/>
              <a:t>整数排列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97FD35C-B47D-D2AB-3B5B-F7FA16B3B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165117"/>
              </p:ext>
            </p:extLst>
          </p:nvPr>
        </p:nvGraphicFramePr>
        <p:xfrm>
          <a:off x="3478196" y="5463190"/>
          <a:ext cx="3960000" cy="60982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178001563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012386905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45063148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82461258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4158901761"/>
                    </a:ext>
                  </a:extLst>
                </a:gridCol>
              </a:tblGrid>
              <a:tr h="6098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0379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79EC329-48F2-611B-9E0A-D36467D54248}"/>
              </a:ext>
            </a:extLst>
          </p:cNvPr>
          <p:cNvSpPr txBox="1"/>
          <p:nvPr/>
        </p:nvSpPr>
        <p:spPr>
          <a:xfrm>
            <a:off x="2544495" y="549480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/>
              <a:t>a[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 ]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53068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9B5E0-02A4-CFFD-4B25-702183EB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5" y="1005840"/>
            <a:ext cx="10515600" cy="4846319"/>
          </a:xfrm>
        </p:spPr>
        <p:txBody>
          <a:bodyPr>
            <a:normAutofit/>
          </a:bodyPr>
          <a:lstStyle/>
          <a:p>
            <a:r>
              <a:rPr kumimoji="1" lang="en-US" altLang="zh-CN" sz="2800" dirty="0" err="1"/>
              <a:t>func</a:t>
            </a:r>
            <a:r>
              <a:rPr kumimoji="1" lang="en-US" altLang="zh-CN" sz="2800" dirty="0"/>
              <a:t>(..)</a:t>
            </a:r>
            <a:br>
              <a:rPr kumimoji="1" lang="en-US" altLang="zh-CN" sz="2800" dirty="0"/>
            </a:br>
            <a:r>
              <a:rPr kumimoji="1" lang="en-US" altLang="zh-CN" sz="2800" dirty="0"/>
              <a:t>{</a:t>
            </a:r>
            <a:br>
              <a:rPr kumimoji="1" lang="en-US" altLang="zh-CN" sz="2800" dirty="0"/>
            </a:br>
            <a:r>
              <a:rPr kumimoji="1" lang="zh-CN" altLang="en-US" sz="2800" dirty="0"/>
              <a:t>         </a:t>
            </a:r>
            <a:r>
              <a:rPr kumimoji="1" lang="en-US" altLang="zh-CN" sz="2800" dirty="0"/>
              <a:t>if</a:t>
            </a:r>
            <a:r>
              <a:rPr kumimoji="1" lang="zh-CN" altLang="en-US" sz="2800" dirty="0"/>
              <a:t>（</a:t>
            </a:r>
            <a:r>
              <a:rPr kumimoji="1" lang="zh-CN" altLang="en-US" sz="2000" b="1" dirty="0"/>
              <a:t>目标出现</a:t>
            </a:r>
            <a:r>
              <a:rPr kumimoji="1" lang="zh-CN" altLang="en-US" sz="2800" dirty="0"/>
              <a:t>）</a:t>
            </a:r>
            <a:r>
              <a:rPr kumimoji="1" lang="zh-CN" altLang="en-US" sz="2000" b="1" dirty="0"/>
              <a:t>终止递归 </a:t>
            </a:r>
            <a:r>
              <a:rPr kumimoji="1" lang="en-US" altLang="zh-CN" sz="2000" b="1" dirty="0"/>
              <a:t>return</a:t>
            </a:r>
            <a:br>
              <a:rPr kumimoji="1" lang="en-US" altLang="zh-CN" sz="2800" dirty="0"/>
            </a:br>
            <a:r>
              <a:rPr kumimoji="1" lang="en-US" altLang="zh-CN" sz="2800" dirty="0"/>
              <a:t>	for(</a:t>
            </a:r>
            <a:r>
              <a:rPr kumimoji="1" lang="zh-CN" altLang="en-US" sz="2000" b="1" dirty="0"/>
              <a:t>所有选择</a:t>
            </a:r>
            <a:r>
              <a:rPr kumimoji="1" lang="en-US" altLang="zh-CN" sz="2800" dirty="0"/>
              <a:t>){</a:t>
            </a:r>
            <a:br>
              <a:rPr kumimoji="1" lang="en-US" altLang="zh-CN" sz="2800" dirty="0"/>
            </a:br>
            <a:r>
              <a:rPr kumimoji="1" lang="zh-CN" altLang="en-US" sz="2800" dirty="0"/>
              <a:t>             </a:t>
            </a:r>
            <a:r>
              <a:rPr kumimoji="1" lang="en-US" altLang="zh-CN" sz="2800" dirty="0"/>
              <a:t>if(</a:t>
            </a:r>
            <a:r>
              <a:rPr kumimoji="1" lang="zh-CN" altLang="en-US" sz="2000" b="1" dirty="0"/>
              <a:t>当前选择合法</a:t>
            </a:r>
            <a:r>
              <a:rPr kumimoji="1" lang="en-US" altLang="zh-CN" sz="2800" dirty="0"/>
              <a:t>)</a:t>
            </a:r>
            <a:br>
              <a:rPr kumimoji="1" lang="en-US" altLang="zh-CN" sz="2800" dirty="0"/>
            </a:br>
            <a:r>
              <a:rPr kumimoji="1" lang="en-US" altLang="zh-CN" sz="2800" dirty="0"/>
              <a:t>	   {</a:t>
            </a:r>
            <a:br>
              <a:rPr kumimoji="1" lang="en-US" altLang="zh-CN" sz="2800" dirty="0"/>
            </a:br>
            <a:r>
              <a:rPr kumimoji="1" lang="en-US" altLang="zh-CN" sz="2000" b="1" dirty="0"/>
              <a:t>                     </a:t>
            </a:r>
            <a:r>
              <a:rPr kumimoji="1" lang="zh-CN" altLang="en-US" sz="2000" b="1" dirty="0"/>
              <a:t>保存选择</a:t>
            </a:r>
            <a:br>
              <a:rPr kumimoji="1" lang="en-US" altLang="zh-CN" sz="2000" b="1" dirty="0"/>
            </a:br>
            <a:r>
              <a:rPr kumimoji="1" lang="zh-CN" altLang="en-US" sz="2000" b="1" dirty="0"/>
              <a:t>            </a:t>
            </a:r>
            <a:r>
              <a:rPr kumimoji="1" lang="en-US" altLang="zh-CN" sz="2000" b="1" dirty="0"/>
              <a:t>        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 err="1"/>
              <a:t>func</a:t>
            </a:r>
            <a:r>
              <a:rPr kumimoji="1" lang="en-US" altLang="zh-CN" sz="2000" b="1" dirty="0"/>
              <a:t>(…);  //</a:t>
            </a:r>
            <a:r>
              <a:rPr kumimoji="1" lang="zh-CN" altLang="en-US" sz="2000" b="1" dirty="0"/>
              <a:t>递归调用</a:t>
            </a:r>
            <a:br>
              <a:rPr kumimoji="1" lang="en-US" altLang="zh-CN" sz="2000" b="1" dirty="0"/>
            </a:br>
            <a:r>
              <a:rPr kumimoji="1" lang="en-US" altLang="zh-CN" sz="2000" b="1" dirty="0"/>
              <a:t>                    </a:t>
            </a:r>
            <a:r>
              <a:rPr kumimoji="1" lang="zh-CN" altLang="en-US" sz="2000" b="1" dirty="0"/>
              <a:t>复位选择</a:t>
            </a:r>
            <a:br>
              <a:rPr kumimoji="1" lang="en-US" altLang="zh-CN" sz="2800" dirty="0"/>
            </a:br>
            <a:r>
              <a:rPr kumimoji="1" lang="en-US" altLang="zh-CN" sz="2800" dirty="0"/>
              <a:t>             }	</a:t>
            </a:r>
            <a:br>
              <a:rPr kumimoji="1" lang="en-US" altLang="zh-CN" sz="2800" dirty="0"/>
            </a:br>
            <a:r>
              <a:rPr kumimoji="1" lang="en-US" altLang="zh-CN" sz="2800" dirty="0"/>
              <a:t>	}</a:t>
            </a:r>
            <a:br>
              <a:rPr kumimoji="1" lang="en-US" altLang="zh-CN" sz="2800" dirty="0"/>
            </a:br>
            <a:r>
              <a:rPr kumimoji="1" lang="en-US" altLang="zh-CN" sz="2800" dirty="0"/>
              <a:t>}</a:t>
            </a:r>
            <a:endParaRPr kumimoji="1"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5A8938-C3ED-DDE3-EEBE-D82ABF0DDE54}"/>
              </a:ext>
            </a:extLst>
          </p:cNvPr>
          <p:cNvSpPr txBox="1"/>
          <p:nvPr/>
        </p:nvSpPr>
        <p:spPr>
          <a:xfrm>
            <a:off x="519765" y="42535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/>
              <a:t>深搜一般框架</a:t>
            </a:r>
          </a:p>
        </p:txBody>
      </p:sp>
    </p:spTree>
    <p:extLst>
      <p:ext uri="{BB962C8B-B14F-4D97-AF65-F5344CB8AC3E}">
        <p14:creationId xmlns:p14="http://schemas.microsoft.com/office/powerpoint/2010/main" val="227726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9A389C-66A9-92FE-BBCF-68BB575351B6}"/>
              </a:ext>
            </a:extLst>
          </p:cNvPr>
          <p:cNvSpPr txBox="1"/>
          <p:nvPr/>
        </p:nvSpPr>
        <p:spPr>
          <a:xfrm>
            <a:off x="5601903" y="962218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1)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1AA1AD-B71C-5BD0-95EF-28333B12F7E1}"/>
              </a:ext>
            </a:extLst>
          </p:cNvPr>
          <p:cNvSpPr txBox="1"/>
          <p:nvPr/>
        </p:nvSpPr>
        <p:spPr>
          <a:xfrm>
            <a:off x="2800951" y="215357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2)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31A20F-3861-8533-8A74-FE7A445FC354}"/>
              </a:ext>
            </a:extLst>
          </p:cNvPr>
          <p:cNvSpPr txBox="1"/>
          <p:nvPr/>
        </p:nvSpPr>
        <p:spPr>
          <a:xfrm>
            <a:off x="5601903" y="215357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2)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B2F390-0247-96B7-E6B8-0B5306C56219}"/>
              </a:ext>
            </a:extLst>
          </p:cNvPr>
          <p:cNvSpPr txBox="1"/>
          <p:nvPr/>
        </p:nvSpPr>
        <p:spPr>
          <a:xfrm>
            <a:off x="8630654" y="2177411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2)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BDEA39-269C-B242-30AA-6A3C1D0A01A4}"/>
              </a:ext>
            </a:extLst>
          </p:cNvPr>
          <p:cNvSpPr txBox="1"/>
          <p:nvPr/>
        </p:nvSpPr>
        <p:spPr>
          <a:xfrm>
            <a:off x="1636296" y="3544972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3)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0B8107-688E-2CF6-09B9-0DC5B7399CF8}"/>
              </a:ext>
            </a:extLst>
          </p:cNvPr>
          <p:cNvSpPr txBox="1"/>
          <p:nvPr/>
        </p:nvSpPr>
        <p:spPr>
          <a:xfrm>
            <a:off x="3282214" y="3544972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 3)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284FD6-EEEE-1B9F-4AF3-E95EFD3B631F}"/>
              </a:ext>
            </a:extLst>
          </p:cNvPr>
          <p:cNvSpPr txBox="1"/>
          <p:nvPr/>
        </p:nvSpPr>
        <p:spPr>
          <a:xfrm>
            <a:off x="1636296" y="5124212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3)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7C053A-92B7-9163-A4EC-FE07B636225F}"/>
              </a:ext>
            </a:extLst>
          </p:cNvPr>
          <p:cNvSpPr txBox="1"/>
          <p:nvPr/>
        </p:nvSpPr>
        <p:spPr>
          <a:xfrm>
            <a:off x="3282214" y="5147035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 3)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519CF2-8624-3A78-BE65-B06A7CD46E3A}"/>
              </a:ext>
            </a:extLst>
          </p:cNvPr>
          <p:cNvSpPr txBox="1"/>
          <p:nvPr/>
        </p:nvSpPr>
        <p:spPr>
          <a:xfrm>
            <a:off x="4918511" y="3525721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3)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4DE19E-F71B-3768-DC84-9E343BE65C66}"/>
              </a:ext>
            </a:extLst>
          </p:cNvPr>
          <p:cNvSpPr txBox="1"/>
          <p:nvPr/>
        </p:nvSpPr>
        <p:spPr>
          <a:xfrm>
            <a:off x="6564429" y="3525721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 3)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6867BC-93B5-A935-C261-D753A33B96DC}"/>
              </a:ext>
            </a:extLst>
          </p:cNvPr>
          <p:cNvSpPr txBox="1"/>
          <p:nvPr/>
        </p:nvSpPr>
        <p:spPr>
          <a:xfrm>
            <a:off x="4963918" y="514090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3)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893A608-7561-65CC-29A0-356E7691C14B}"/>
              </a:ext>
            </a:extLst>
          </p:cNvPr>
          <p:cNvSpPr txBox="1"/>
          <p:nvPr/>
        </p:nvSpPr>
        <p:spPr>
          <a:xfrm>
            <a:off x="6600531" y="510488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 3)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788FCD0-76C6-4998-337D-3B50E35A0E73}"/>
              </a:ext>
            </a:extLst>
          </p:cNvPr>
          <p:cNvSpPr txBox="1"/>
          <p:nvPr/>
        </p:nvSpPr>
        <p:spPr>
          <a:xfrm>
            <a:off x="8428523" y="345112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3)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E8180A-00F0-0DC0-438F-D4CD210B5568}"/>
              </a:ext>
            </a:extLst>
          </p:cNvPr>
          <p:cNvSpPr txBox="1"/>
          <p:nvPr/>
        </p:nvSpPr>
        <p:spPr>
          <a:xfrm>
            <a:off x="10074441" y="345112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 3)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D1DA91-8383-A4C3-3572-9218F1AA3BB0}"/>
              </a:ext>
            </a:extLst>
          </p:cNvPr>
          <p:cNvSpPr txBox="1"/>
          <p:nvPr/>
        </p:nvSpPr>
        <p:spPr>
          <a:xfrm>
            <a:off x="8453596" y="510488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3)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7247CA-95A9-E991-3628-8BC456F9D98B}"/>
              </a:ext>
            </a:extLst>
          </p:cNvPr>
          <p:cNvSpPr txBox="1"/>
          <p:nvPr/>
        </p:nvSpPr>
        <p:spPr>
          <a:xfrm>
            <a:off x="10135300" y="5104886"/>
            <a:ext cx="96252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f(3,  3)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C6F328-45AB-D0EA-2DE9-B4ABA6160605}"/>
              </a:ext>
            </a:extLst>
          </p:cNvPr>
          <p:cNvSpPr txBox="1"/>
          <p:nvPr/>
        </p:nvSpPr>
        <p:spPr>
          <a:xfrm>
            <a:off x="3025539" y="1262419"/>
            <a:ext cx="188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/>
              <a:t>a[1]=1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his[1]=1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CE242A-05B4-74D9-52D9-ABF6CF042D55}"/>
              </a:ext>
            </a:extLst>
          </p:cNvPr>
          <p:cNvSpPr txBox="1"/>
          <p:nvPr/>
        </p:nvSpPr>
        <p:spPr>
          <a:xfrm>
            <a:off x="6007425" y="164254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a[1]=2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9EC36F-52F3-3E73-AC15-C737A2E49685}"/>
              </a:ext>
            </a:extLst>
          </p:cNvPr>
          <p:cNvSpPr txBox="1"/>
          <p:nvPr/>
        </p:nvSpPr>
        <p:spPr>
          <a:xfrm>
            <a:off x="7559654" y="136916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a[1]=3</a:t>
            </a:r>
            <a:endParaRPr kumimoji="1" lang="zh-CN" altLang="en-US" dirty="0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FA9A42E9-1FE2-47EC-DFF7-5FBC101DE50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282214" y="1331550"/>
            <a:ext cx="2800952" cy="822026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83F9972E-CA39-1C54-D84D-38E63B7FE8B5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6072244" y="1331550"/>
            <a:ext cx="10922" cy="830798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F8CC3081-8DC7-299B-93F5-E9A9E48CB61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083166" y="1331550"/>
            <a:ext cx="3031959" cy="84586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1CED063C-628B-B034-3838-A5440FDAA5E0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117559" y="2522908"/>
            <a:ext cx="1164655" cy="1002813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F769D65B-F387-98EE-766C-79EDAED7F2F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282214" y="2522908"/>
            <a:ext cx="433143" cy="1030447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DEEA12C0-6107-CFBB-5E23-5A44F4436654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433460" y="2522908"/>
            <a:ext cx="649706" cy="1022064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1C8D91A-B5C0-3E7E-6F99-7BC9DDEF136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83166" y="2522908"/>
            <a:ext cx="920014" cy="1012439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8192CFB6-08BC-2B48-A19A-051AC61DD67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111917" y="2546743"/>
            <a:ext cx="1404790" cy="904383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9774CAA9-FD07-8C53-198E-C056E384E46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952601" y="2546743"/>
            <a:ext cx="159316" cy="904383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7E06930B-1083-1B31-5200-CBB48AA8EB80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2117559" y="3914304"/>
            <a:ext cx="21656" cy="1209908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5C32A968-E5CF-9EAF-6655-97109808D541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3763477" y="3914304"/>
            <a:ext cx="0" cy="123273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E15C3884-355C-682D-7204-DD86A3B174A6}"/>
              </a:ext>
            </a:extLst>
          </p:cNvPr>
          <p:cNvCxnSpPr>
            <a:cxnSpLocks/>
          </p:cNvCxnSpPr>
          <p:nvPr/>
        </p:nvCxnSpPr>
        <p:spPr>
          <a:xfrm>
            <a:off x="5399773" y="3872230"/>
            <a:ext cx="0" cy="123273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20B535C-5074-DF6C-9DA8-0AA7ECF2975C}"/>
              </a:ext>
            </a:extLst>
          </p:cNvPr>
          <p:cNvCxnSpPr>
            <a:cxnSpLocks/>
          </p:cNvCxnSpPr>
          <p:nvPr/>
        </p:nvCxnSpPr>
        <p:spPr>
          <a:xfrm>
            <a:off x="7022431" y="3891481"/>
            <a:ext cx="0" cy="123273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A6869E2C-56F4-7EA5-B8B4-4B781E298ECB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8934859" y="3820458"/>
            <a:ext cx="17742" cy="1284428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37542FF8-113D-7ABD-8F51-45A0D60753A4}"/>
              </a:ext>
            </a:extLst>
          </p:cNvPr>
          <p:cNvCxnSpPr>
            <a:cxnSpLocks/>
          </p:cNvCxnSpPr>
          <p:nvPr/>
        </p:nvCxnSpPr>
        <p:spPr>
          <a:xfrm flipH="1">
            <a:off x="10516707" y="3820458"/>
            <a:ext cx="20357" cy="1284428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EEE9AAE8-1A70-6561-A226-BF37A4EB4042}"/>
              </a:ext>
            </a:extLst>
          </p:cNvPr>
          <p:cNvSpPr txBox="1"/>
          <p:nvPr/>
        </p:nvSpPr>
        <p:spPr>
          <a:xfrm>
            <a:off x="1684416" y="2755352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a[2]=2</a:t>
            </a:r>
            <a:endParaRPr kumimoji="1"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4E380AB-3284-B5C9-50E1-F895A267F38B}"/>
              </a:ext>
            </a:extLst>
          </p:cNvPr>
          <p:cNvSpPr txBox="1"/>
          <p:nvPr/>
        </p:nvSpPr>
        <p:spPr>
          <a:xfrm>
            <a:off x="3559348" y="2707574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a[2]=3</a:t>
            </a:r>
            <a:endParaRPr kumimoji="1"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469B41D-046F-B15F-6DAE-2FA72E9D45EE}"/>
              </a:ext>
            </a:extLst>
          </p:cNvPr>
          <p:cNvSpPr txBox="1"/>
          <p:nvPr/>
        </p:nvSpPr>
        <p:spPr>
          <a:xfrm>
            <a:off x="1238795" y="425215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a[3]=3</a:t>
            </a:r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AE6A6B5-580A-69D3-95AF-1B1152D35626}"/>
              </a:ext>
            </a:extLst>
          </p:cNvPr>
          <p:cNvSpPr txBox="1"/>
          <p:nvPr/>
        </p:nvSpPr>
        <p:spPr>
          <a:xfrm>
            <a:off x="2891398" y="425215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a[3]=2</a:t>
            </a:r>
            <a:endParaRPr kumimoji="1"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7465FE2-56C5-9EE2-5D40-A209C755A49F}"/>
              </a:ext>
            </a:extLst>
          </p:cNvPr>
          <p:cNvSpPr txBox="1"/>
          <p:nvPr/>
        </p:nvSpPr>
        <p:spPr>
          <a:xfrm>
            <a:off x="4605188" y="4252157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a[3]=3</a:t>
            </a:r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926462A-2936-31DE-48E6-ADEAAF44C85D}"/>
              </a:ext>
            </a:extLst>
          </p:cNvPr>
          <p:cNvSpPr txBox="1"/>
          <p:nvPr/>
        </p:nvSpPr>
        <p:spPr>
          <a:xfrm>
            <a:off x="6203790" y="426081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a[3]=1</a:t>
            </a:r>
            <a:endParaRPr kumimoji="1"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A48DC78-CA66-7D72-27C6-45F73C05A343}"/>
              </a:ext>
            </a:extLst>
          </p:cNvPr>
          <p:cNvSpPr txBox="1"/>
          <p:nvPr/>
        </p:nvSpPr>
        <p:spPr>
          <a:xfrm>
            <a:off x="8098014" y="417837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a[3]=2</a:t>
            </a:r>
            <a:endParaRPr kumimoji="1"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900DE93-4E39-0E3D-1B38-D6BF679675B3}"/>
              </a:ext>
            </a:extLst>
          </p:cNvPr>
          <p:cNvSpPr txBox="1"/>
          <p:nvPr/>
        </p:nvSpPr>
        <p:spPr>
          <a:xfrm>
            <a:off x="9723425" y="415094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a[3]=1</a:t>
            </a:r>
            <a:endParaRPr kumimoji="1"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303BC2A-8A24-EDEA-1403-223AEABCDE0A}"/>
              </a:ext>
            </a:extLst>
          </p:cNvPr>
          <p:cNvSpPr txBox="1"/>
          <p:nvPr/>
        </p:nvSpPr>
        <p:spPr>
          <a:xfrm>
            <a:off x="4938321" y="270369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a[2]=1</a:t>
            </a:r>
            <a:endParaRPr kumimoji="1"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B06CF54-E440-0A31-8BF1-A8D1729C0E7B}"/>
              </a:ext>
            </a:extLst>
          </p:cNvPr>
          <p:cNvSpPr txBox="1"/>
          <p:nvPr/>
        </p:nvSpPr>
        <p:spPr>
          <a:xfrm>
            <a:off x="6431031" y="267505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a[2]=3</a:t>
            </a:r>
            <a:endParaRPr kumimoji="1"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60D1E73-7F3B-3819-6CAA-69E3D1E1D187}"/>
              </a:ext>
            </a:extLst>
          </p:cNvPr>
          <p:cNvSpPr txBox="1"/>
          <p:nvPr/>
        </p:nvSpPr>
        <p:spPr>
          <a:xfrm>
            <a:off x="8257329" y="274227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a[2]=1</a:t>
            </a:r>
            <a:endParaRPr kumimoji="1"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74C64C4-B67C-7071-C2BE-E00F886D0FCE}"/>
              </a:ext>
            </a:extLst>
          </p:cNvPr>
          <p:cNvSpPr txBox="1"/>
          <p:nvPr/>
        </p:nvSpPr>
        <p:spPr>
          <a:xfrm>
            <a:off x="9822426" y="267505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dirty="0"/>
              <a:t>a[2]=2</a:t>
            </a:r>
            <a:endParaRPr kumimoji="1" lang="zh-CN" altLang="en-US" dirty="0"/>
          </a:p>
        </p:txBody>
      </p:sp>
      <p:sp>
        <p:nvSpPr>
          <p:cNvPr id="70" name="右弧形箭头 69">
            <a:extLst>
              <a:ext uri="{FF2B5EF4-FFF2-40B4-BE49-F238E27FC236}">
                <a16:creationId xmlns:a16="http://schemas.microsoft.com/office/drawing/2014/main" id="{DC7934F5-D934-0A18-EE90-670740C63AB1}"/>
              </a:ext>
            </a:extLst>
          </p:cNvPr>
          <p:cNvSpPr/>
          <p:nvPr/>
        </p:nvSpPr>
        <p:spPr>
          <a:xfrm rot="10800000">
            <a:off x="2292478" y="3970653"/>
            <a:ext cx="236598" cy="1120027"/>
          </a:xfrm>
          <a:prstGeom prst="curved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1" name="右弧形箭头 70">
            <a:extLst>
              <a:ext uri="{FF2B5EF4-FFF2-40B4-BE49-F238E27FC236}">
                <a16:creationId xmlns:a16="http://schemas.microsoft.com/office/drawing/2014/main" id="{68F05F7E-ADFB-7B50-0F41-C183B06B18D9}"/>
              </a:ext>
            </a:extLst>
          </p:cNvPr>
          <p:cNvSpPr/>
          <p:nvPr/>
        </p:nvSpPr>
        <p:spPr>
          <a:xfrm rot="13526803">
            <a:off x="2735282" y="2574796"/>
            <a:ext cx="236598" cy="1120027"/>
          </a:xfrm>
          <a:prstGeom prst="curved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2" name="右弧形箭头 71">
            <a:extLst>
              <a:ext uri="{FF2B5EF4-FFF2-40B4-BE49-F238E27FC236}">
                <a16:creationId xmlns:a16="http://schemas.microsoft.com/office/drawing/2014/main" id="{E5E7BE28-2572-83FC-CD2C-CABFCC9DDCB3}"/>
              </a:ext>
            </a:extLst>
          </p:cNvPr>
          <p:cNvSpPr/>
          <p:nvPr/>
        </p:nvSpPr>
        <p:spPr>
          <a:xfrm rot="14805398">
            <a:off x="4729581" y="810092"/>
            <a:ext cx="309427" cy="2501839"/>
          </a:xfrm>
          <a:prstGeom prst="curvedRightArrow">
            <a:avLst>
              <a:gd name="adj1" fmla="val 0"/>
              <a:gd name="adj2" fmla="val 50000"/>
              <a:gd name="adj3" fmla="val 5118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793F8DA-8A13-7CD8-C989-4DE14F27FC9E}"/>
              </a:ext>
            </a:extLst>
          </p:cNvPr>
          <p:cNvSpPr txBox="1"/>
          <p:nvPr/>
        </p:nvSpPr>
        <p:spPr>
          <a:xfrm>
            <a:off x="4229181" y="2235629"/>
            <a:ext cx="111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dirty="0">
                <a:solidFill>
                  <a:srgbClr val="30D90D"/>
                </a:solidFill>
              </a:rPr>
              <a:t>his[1]=0</a:t>
            </a:r>
            <a:endParaRPr kumimoji="1" lang="zh-CN" altLang="en-US" dirty="0">
              <a:solidFill>
                <a:srgbClr val="30D9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424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50AF63F-E8E8-1402-6787-EAE312B48A48}"/>
              </a:ext>
            </a:extLst>
          </p:cNvPr>
          <p:cNvSpPr txBox="1"/>
          <p:nvPr/>
        </p:nvSpPr>
        <p:spPr>
          <a:xfrm>
            <a:off x="873493" y="654287"/>
            <a:ext cx="6097604" cy="66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his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AC9641-A7F0-4CD7-49BF-EAB4A30A6616}"/>
              </a:ext>
            </a:extLst>
          </p:cNvPr>
          <p:cNvSpPr txBox="1"/>
          <p:nvPr/>
        </p:nvSpPr>
        <p:spPr>
          <a:xfrm>
            <a:off x="873493" y="1425974"/>
            <a:ext cx="6097604" cy="479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   puta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 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Menlo" panose="020B0609030804020204" pitchFamily="49" charset="0"/>
              </a:rPr>
              <a:t>输出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a[1]~a[n]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 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}</a:t>
            </a:r>
          </a:p>
          <a:p>
            <a:pPr>
              <a:lnSpc>
                <a:spcPts val="2325"/>
              </a:lnSpc>
            </a:pPr>
            <a:b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&lt;=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    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his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]==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Menlo" panose="020B0609030804020204" pitchFamily="49" charset="0"/>
              </a:rPr>
              <a:t>数字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未使用过</a:t>
            </a:r>
            <a:endParaRPr lang="zh-CN" altLang="en-US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 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endParaRPr lang="en-US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 his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Menlo" panose="020B0609030804020204" pitchFamily="49" charset="0"/>
              </a:rPr>
              <a:t>保存已使用</a:t>
            </a:r>
            <a:endParaRPr lang="en-US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          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Menlo" panose="020B0609030804020204" pitchFamily="49" charset="0"/>
              </a:rPr>
              <a:t>递归搜索</a:t>
            </a:r>
            <a:endParaRPr lang="en-US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        his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;</a:t>
            </a:r>
            <a:r>
              <a:rPr lang="zh-CN" altLang="en-US" dirty="0">
                <a:solidFill>
                  <a:srgbClr val="008000"/>
                </a:solidFill>
                <a:latin typeface="Menlo" panose="020B0609030804020204" pitchFamily="49" charset="0"/>
              </a:rPr>
              <a:t>  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Menlo" panose="020B0609030804020204" pitchFamily="49" charset="0"/>
              </a:rPr>
              <a:t>复位释放数字</a:t>
            </a:r>
            <a:r>
              <a:rPr lang="en-US" altLang="zh-CN" dirty="0">
                <a:solidFill>
                  <a:srgbClr val="008000"/>
                </a:solidFill>
                <a:latin typeface="Menlo" panose="020B0609030804020204" pitchFamily="49" charset="0"/>
              </a:rPr>
              <a:t>j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}</a:t>
            </a:r>
          </a:p>
          <a:p>
            <a:pPr>
              <a:lnSpc>
                <a:spcPts val="2325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}</a:t>
            </a:r>
            <a:b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806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990</Words>
  <Application>Microsoft Macintosh PowerPoint</Application>
  <PresentationFormat>宽屏</PresentationFormat>
  <Paragraphs>113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PingFang SC</vt:lpstr>
      <vt:lpstr>Arial</vt:lpstr>
      <vt:lpstr>Menlo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func(..) {          if（目标出现）终止递归 return  for(所有选择){              if(当前选择合法)     {                      保存选择                      func(…);  //递归调用                     复位选择              }   } }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zhouq</dc:creator>
  <cp:lastModifiedBy>zhouq</cp:lastModifiedBy>
  <cp:revision>4</cp:revision>
  <dcterms:created xsi:type="dcterms:W3CDTF">2026-04-27T10:16:42Z</dcterms:created>
  <dcterms:modified xsi:type="dcterms:W3CDTF">2026-04-28T16:15:26Z</dcterms:modified>
</cp:coreProperties>
</file>