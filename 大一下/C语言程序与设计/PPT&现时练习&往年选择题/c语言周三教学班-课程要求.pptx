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88" r:id="rId2"/>
    <p:sldId id="503" r:id="rId3"/>
    <p:sldId id="504" r:id="rId4"/>
    <p:sldId id="559" r:id="rId5"/>
    <p:sldId id="497" r:id="rId6"/>
    <p:sldId id="543" r:id="rId7"/>
    <p:sldId id="561" r:id="rId8"/>
    <p:sldId id="562" r:id="rId9"/>
    <p:sldId id="546" r:id="rId10"/>
    <p:sldId id="551" r:id="rId11"/>
    <p:sldId id="554" r:id="rId12"/>
    <p:sldId id="560" r:id="rId13"/>
    <p:sldId id="556" r:id="rId14"/>
    <p:sldId id="540" r:id="rId15"/>
    <p:sldId id="536" r:id="rId16"/>
    <p:sldId id="542" r:id="rId17"/>
  </p:sldIdLst>
  <p:sldSz cx="9906000" cy="6858000" type="A4"/>
  <p:notesSz cx="6934200" cy="9398000"/>
  <p:custDataLst>
    <p:tags r:id="rId2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b="1" kern="1200">
        <a:solidFill>
          <a:srgbClr val="FF0000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4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59">
          <p15:clr>
            <a:srgbClr val="A4A3A4"/>
          </p15:clr>
        </p15:guide>
        <p15:guide id="2" pos="2202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20268"/>
    <a:srgbClr val="006C39"/>
    <a:srgbClr val="ABDB77"/>
    <a:srgbClr val="CC5D12"/>
    <a:srgbClr val="CC3300"/>
    <a:srgbClr val="000066"/>
    <a:srgbClr val="0000CC"/>
    <a:srgbClr val="3F3F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 autoAdjust="0"/>
    <p:restoredTop sz="94660"/>
  </p:normalViewPr>
  <p:slideViewPr>
    <p:cSldViewPr snapToGrid="0" snapToObjects="1" showGuides="1">
      <p:cViewPr varScale="1">
        <p:scale>
          <a:sx n="128" d="100"/>
          <a:sy n="128" d="100"/>
        </p:scale>
        <p:origin x="1400" y="176"/>
      </p:cViewPr>
      <p:guideLst>
        <p:guide orient="horz" pos="2160"/>
        <p:guide pos="314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63" d="100"/>
          <a:sy n="63" d="100"/>
        </p:scale>
        <p:origin x="-2874" y="-114"/>
      </p:cViewPr>
      <p:guideLst>
        <p:guide orient="horz" pos="2959"/>
        <p:guide pos="220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kumimoji="1"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1" sz="1200" b="0">
                <a:solidFill>
                  <a:schemeClr val="tx1"/>
                </a:solidFill>
              </a:defRPr>
            </a:lvl1pPr>
          </a:lstStyle>
          <a:p>
            <a:fld id="{6F38E04F-5040-4FCC-AB1C-7AECE730CCEC}" type="slidenum">
              <a:rPr lang="zh-CN" altLang="en-US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881063" y="685800"/>
            <a:ext cx="5172075" cy="3581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>
                <a:solidFill>
                  <a:schemeClr val="tx1"/>
                </a:solidFill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b="0">
                <a:solidFill>
                  <a:schemeClr val="tx1"/>
                </a:solidFill>
              </a:defRPr>
            </a:lvl1pPr>
          </a:lstStyle>
          <a:p>
            <a:fld id="{8627A396-86FD-4B06-B805-D5AF90C5AC6B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EA785B-6EE8-40DE-9A9E-165FB90B6A55}" type="slidenum">
              <a:rPr lang="zh-CN" altLang="en-US"/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/>
          </a:p>
        </p:txBody>
      </p:sp>
      <p:sp>
        <p:nvSpPr>
          <p:cNvPr id="102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CEA785B-6EE8-40DE-9A9E-165FB90B6A55}" type="slidenum">
              <a:rPr lang="zh-CN" altLang="en-US"/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27A396-86FD-4B06-B805-D5AF90C5AC6B}" type="slidenum">
              <a:rPr lang="zh-CN" altLang="en-US"/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27A396-86FD-4B06-B805-D5AF90C5AC6B}" type="slidenum">
              <a:rPr lang="zh-CN" altLang="en-US"/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accent3">
            <a:alpha val="8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90600" y="1511904"/>
            <a:ext cx="8420100" cy="1470025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78263" y="372745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16162B-ED2B-4418-B8A0-868EA42A8D0F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6356350"/>
            <a:ext cx="9906000" cy="381866"/>
          </a:xfrm>
          <a:prstGeom prst="rect">
            <a:avLst/>
          </a:prstGeom>
          <a:gradFill>
            <a:gsLst>
              <a:gs pos="0">
                <a:srgbClr val="A13F0B"/>
              </a:gs>
              <a:gs pos="100000">
                <a:srgbClr val="A13F0B"/>
              </a:gs>
            </a:gsLst>
            <a:lin ang="0" scaled="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grpSp>
        <p:nvGrpSpPr>
          <p:cNvPr id="10" name="组合 9"/>
          <p:cNvGrpSpPr/>
          <p:nvPr userDrawn="1"/>
        </p:nvGrpSpPr>
        <p:grpSpPr>
          <a:xfrm>
            <a:off x="598941" y="6399999"/>
            <a:ext cx="2542613" cy="276499"/>
            <a:chOff x="598941" y="6399999"/>
            <a:chExt cx="2542613" cy="276499"/>
          </a:xfrm>
          <a:solidFill>
            <a:sysClr val="window" lastClr="FFFFFF"/>
          </a:solidFill>
        </p:grpSpPr>
        <p:grpSp>
          <p:nvGrpSpPr>
            <p:cNvPr id="11" name="组合 10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25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6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27" name="组合 26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32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3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29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0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1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12" name="组合 11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13" name="组合 12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23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4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4" name="组合 13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21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2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18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19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20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16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pic>
        <p:nvPicPr>
          <p:cNvPr id="6" name="图片 5"/>
          <p:cNvPicPr>
            <a:picLocks noChangeAspect="1"/>
          </p:cNvPicPr>
          <p:nvPr userDrawn="1"/>
        </p:nvPicPr>
        <p:blipFill rotWithShape="1">
          <a:blip r:embed="rId2" cstate="print"/>
          <a:srcRect r="25963"/>
          <a:stretch>
            <a:fillRect/>
          </a:stretch>
        </p:blipFill>
        <p:spPr>
          <a:xfrm>
            <a:off x="4855643" y="140149"/>
            <a:ext cx="5028334" cy="6535793"/>
          </a:xfrm>
          <a:prstGeom prst="rect">
            <a:avLst/>
          </a:prstGeom>
        </p:spPr>
      </p:pic>
      <p:pic>
        <p:nvPicPr>
          <p:cNvPr id="35" name="图片 66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 bwMode="auto">
          <a:xfrm>
            <a:off x="108312" y="256661"/>
            <a:ext cx="2286546" cy="2975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 dir="r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1E7A38-FBDD-48BA-82C5-A614112E297E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28" name="组合 27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rgbClr val="A2A2A2"/>
          </a:solidFill>
        </p:grpSpPr>
        <p:grpSp>
          <p:nvGrpSpPr>
            <p:cNvPr id="29" name="组合 28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3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4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45" name="组合 44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0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51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46" name="组合 45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47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8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9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30" name="组合 29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1" name="组合 30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1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2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2" name="组合 31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39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40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33" name="组合 32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36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7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38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34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Ovr>
    <a:masterClrMapping/>
  </p:clrMapOvr>
  <p:transition>
    <p:strips dir="r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3D9DABE-D16F-4266-87BB-C5250BC7121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0C6C87-D58D-4C78-B317-ADEA25F68A3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953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029200" y="1600200"/>
            <a:ext cx="43815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D6CBCAF-8D1E-4698-B501-8566050D3B1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186CD6C-C93D-4B26-8A31-6683F2CC41B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4147386-4883-4F30-98B2-0379D030ABA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7EDE83-5D00-4A99-A742-6FF0EF35605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262BE91-B306-44DE-9EAA-3C89E488122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481923F-8F87-4D58-A74E-6246C91E73E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03521F6-A867-4365-87BD-027A99D52A36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  <p:transition>
    <p:strips dir="r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spcBef>
                <a:spcPct val="20000"/>
              </a:spcBef>
              <a:defRPr sz="1200">
                <a:solidFill>
                  <a:schemeClr val="tx1"/>
                </a:solidFill>
              </a:defRPr>
            </a:lvl1pPr>
          </a:lstStyle>
          <a:p>
            <a:fld id="{E7CC41B0-DFD2-4175-AF51-2C4AE56E4B74}" type="slidenum">
              <a:rPr lang="zh-CN" altLang="en-US"/>
              <a:t>‹#›</a:t>
            </a:fld>
            <a:endParaRPr lang="zh-CN" altLang="en-US"/>
          </a:p>
        </p:txBody>
      </p:sp>
      <p:grpSp>
        <p:nvGrpSpPr>
          <p:cNvPr id="32" name="组合 31"/>
          <p:cNvGrpSpPr/>
          <p:nvPr userDrawn="1"/>
        </p:nvGrpSpPr>
        <p:grpSpPr>
          <a:xfrm>
            <a:off x="684666" y="6423435"/>
            <a:ext cx="1915659" cy="208321"/>
            <a:chOff x="598941" y="6399999"/>
            <a:chExt cx="2542613" cy="276499"/>
          </a:xfrm>
          <a:solidFill>
            <a:schemeClr val="accent3"/>
          </a:solidFill>
        </p:grpSpPr>
        <p:grpSp>
          <p:nvGrpSpPr>
            <p:cNvPr id="33" name="组合 32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47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48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grpSp>
            <p:nvGrpSpPr>
              <p:cNvPr id="49" name="组合 48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54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50" name="组合 49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51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34" name="组合 33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35" name="组合 34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45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6" name="组合 35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43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7" name="组合 36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40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endParaRPr lang="zh-CN" altLang="en-US"/>
                </a:p>
              </p:txBody>
            </p:sp>
          </p:grpSp>
          <p:sp>
            <p:nvSpPr>
              <p:cNvPr id="38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  <p:sp>
            <p:nvSpPr>
              <p:cNvPr id="39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endParaRPr lang="zh-CN" altLang="en-US"/>
              </a:p>
            </p:txBody>
          </p:sp>
        </p:grpSp>
      </p:grpSp>
      <p:grpSp>
        <p:nvGrpSpPr>
          <p:cNvPr id="56" name="组合 55"/>
          <p:cNvGrpSpPr/>
          <p:nvPr userDrawn="1"/>
        </p:nvGrpSpPr>
        <p:grpSpPr>
          <a:xfrm>
            <a:off x="522741" y="6399999"/>
            <a:ext cx="2542613" cy="276499"/>
            <a:chOff x="598941" y="6399999"/>
            <a:chExt cx="2542613" cy="276499"/>
          </a:xfrm>
          <a:solidFill>
            <a:srgbClr val="A2A2A2"/>
          </a:solidFill>
        </p:grpSpPr>
        <p:grpSp>
          <p:nvGrpSpPr>
            <p:cNvPr id="57" name="组合 56"/>
            <p:cNvGrpSpPr/>
            <p:nvPr/>
          </p:nvGrpSpPr>
          <p:grpSpPr>
            <a:xfrm>
              <a:off x="2055693" y="6402621"/>
              <a:ext cx="1085861" cy="270805"/>
              <a:chOff x="10340336" y="2247899"/>
              <a:chExt cx="2724438" cy="679451"/>
            </a:xfrm>
            <a:grpFill/>
          </p:grpSpPr>
          <p:sp>
            <p:nvSpPr>
              <p:cNvPr id="71" name="Freeform 5"/>
              <p:cNvSpPr/>
              <p:nvPr/>
            </p:nvSpPr>
            <p:spPr bwMode="auto">
              <a:xfrm>
                <a:off x="11868131" y="2285206"/>
                <a:ext cx="534988" cy="603250"/>
              </a:xfrm>
              <a:custGeom>
                <a:avLst/>
                <a:gdLst>
                  <a:gd name="T0" fmla="*/ 41 w 125"/>
                  <a:gd name="T1" fmla="*/ 16 h 142"/>
                  <a:gd name="T2" fmla="*/ 49 w 125"/>
                  <a:gd name="T3" fmla="*/ 3 h 142"/>
                  <a:gd name="T4" fmla="*/ 62 w 125"/>
                  <a:gd name="T5" fmla="*/ 20 h 142"/>
                  <a:gd name="T6" fmla="*/ 64 w 125"/>
                  <a:gd name="T7" fmla="*/ 33 h 142"/>
                  <a:gd name="T8" fmla="*/ 50 w 125"/>
                  <a:gd name="T9" fmla="*/ 34 h 142"/>
                  <a:gd name="T10" fmla="*/ 58 w 125"/>
                  <a:gd name="T11" fmla="*/ 58 h 142"/>
                  <a:gd name="T12" fmla="*/ 75 w 125"/>
                  <a:gd name="T13" fmla="*/ 59 h 142"/>
                  <a:gd name="T14" fmla="*/ 71 w 125"/>
                  <a:gd name="T15" fmla="*/ 50 h 142"/>
                  <a:gd name="T16" fmla="*/ 81 w 125"/>
                  <a:gd name="T17" fmla="*/ 47 h 142"/>
                  <a:gd name="T18" fmla="*/ 65 w 125"/>
                  <a:gd name="T19" fmla="*/ 42 h 142"/>
                  <a:gd name="T20" fmla="*/ 63 w 125"/>
                  <a:gd name="T21" fmla="*/ 37 h 142"/>
                  <a:gd name="T22" fmla="*/ 85 w 125"/>
                  <a:gd name="T23" fmla="*/ 27 h 142"/>
                  <a:gd name="T24" fmla="*/ 93 w 125"/>
                  <a:gd name="T25" fmla="*/ 2 h 142"/>
                  <a:gd name="T26" fmla="*/ 99 w 125"/>
                  <a:gd name="T27" fmla="*/ 5 h 142"/>
                  <a:gd name="T28" fmla="*/ 111 w 125"/>
                  <a:gd name="T29" fmla="*/ 30 h 142"/>
                  <a:gd name="T30" fmla="*/ 102 w 125"/>
                  <a:gd name="T31" fmla="*/ 34 h 142"/>
                  <a:gd name="T32" fmla="*/ 95 w 125"/>
                  <a:gd name="T33" fmla="*/ 59 h 142"/>
                  <a:gd name="T34" fmla="*/ 123 w 125"/>
                  <a:gd name="T35" fmla="*/ 61 h 142"/>
                  <a:gd name="T36" fmla="*/ 110 w 125"/>
                  <a:gd name="T37" fmla="*/ 71 h 142"/>
                  <a:gd name="T38" fmla="*/ 104 w 125"/>
                  <a:gd name="T39" fmla="*/ 82 h 142"/>
                  <a:gd name="T40" fmla="*/ 112 w 125"/>
                  <a:gd name="T41" fmla="*/ 134 h 142"/>
                  <a:gd name="T42" fmla="*/ 102 w 125"/>
                  <a:gd name="T43" fmla="*/ 140 h 142"/>
                  <a:gd name="T44" fmla="*/ 89 w 125"/>
                  <a:gd name="T45" fmla="*/ 123 h 142"/>
                  <a:gd name="T46" fmla="*/ 101 w 125"/>
                  <a:gd name="T47" fmla="*/ 128 h 142"/>
                  <a:gd name="T48" fmla="*/ 101 w 125"/>
                  <a:gd name="T49" fmla="*/ 92 h 142"/>
                  <a:gd name="T50" fmla="*/ 97 w 125"/>
                  <a:gd name="T51" fmla="*/ 99 h 142"/>
                  <a:gd name="T52" fmla="*/ 90 w 125"/>
                  <a:gd name="T53" fmla="*/ 103 h 142"/>
                  <a:gd name="T54" fmla="*/ 86 w 125"/>
                  <a:gd name="T55" fmla="*/ 110 h 142"/>
                  <a:gd name="T56" fmla="*/ 81 w 125"/>
                  <a:gd name="T57" fmla="*/ 120 h 142"/>
                  <a:gd name="T58" fmla="*/ 88 w 125"/>
                  <a:gd name="T59" fmla="*/ 71 h 142"/>
                  <a:gd name="T60" fmla="*/ 60 w 125"/>
                  <a:gd name="T61" fmla="*/ 87 h 142"/>
                  <a:gd name="T62" fmla="*/ 53 w 125"/>
                  <a:gd name="T63" fmla="*/ 89 h 142"/>
                  <a:gd name="T64" fmla="*/ 51 w 125"/>
                  <a:gd name="T65" fmla="*/ 128 h 142"/>
                  <a:gd name="T66" fmla="*/ 43 w 125"/>
                  <a:gd name="T67" fmla="*/ 134 h 142"/>
                  <a:gd name="T68" fmla="*/ 39 w 125"/>
                  <a:gd name="T69" fmla="*/ 107 h 142"/>
                  <a:gd name="T70" fmla="*/ 33 w 125"/>
                  <a:gd name="T71" fmla="*/ 114 h 142"/>
                  <a:gd name="T72" fmla="*/ 17 w 125"/>
                  <a:gd name="T73" fmla="*/ 108 h 142"/>
                  <a:gd name="T74" fmla="*/ 5 w 125"/>
                  <a:gd name="T75" fmla="*/ 81 h 142"/>
                  <a:gd name="T76" fmla="*/ 34 w 125"/>
                  <a:gd name="T77" fmla="*/ 56 h 142"/>
                  <a:gd name="T78" fmla="*/ 38 w 125"/>
                  <a:gd name="T79" fmla="*/ 33 h 142"/>
                  <a:gd name="T80" fmla="*/ 22 w 125"/>
                  <a:gd name="T81" fmla="*/ 55 h 142"/>
                  <a:gd name="T82" fmla="*/ 14 w 125"/>
                  <a:gd name="T83" fmla="*/ 55 h 142"/>
                  <a:gd name="T84" fmla="*/ 11 w 125"/>
                  <a:gd name="T85" fmla="*/ 36 h 142"/>
                  <a:gd name="T86" fmla="*/ 32 w 125"/>
                  <a:gd name="T87" fmla="*/ 22 h 142"/>
                  <a:gd name="T88" fmla="*/ 28 w 125"/>
                  <a:gd name="T89" fmla="*/ 33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</a:cxnLst>
                <a:rect l="0" t="0" r="r" b="b"/>
                <a:pathLst>
                  <a:path w="125" h="142">
                    <a:moveTo>
                      <a:pt x="28" y="33"/>
                    </a:moveTo>
                    <a:cubicBezTo>
                      <a:pt x="35" y="29"/>
                      <a:pt x="41" y="25"/>
                      <a:pt x="41" y="16"/>
                    </a:cubicBezTo>
                    <a:cubicBezTo>
                      <a:pt x="41" y="13"/>
                      <a:pt x="43" y="9"/>
                      <a:pt x="44" y="6"/>
                    </a:cubicBezTo>
                    <a:cubicBezTo>
                      <a:pt x="45" y="5"/>
                      <a:pt x="48" y="3"/>
                      <a:pt x="49" y="3"/>
                    </a:cubicBezTo>
                    <a:cubicBezTo>
                      <a:pt x="54" y="4"/>
                      <a:pt x="59" y="9"/>
                      <a:pt x="59" y="15"/>
                    </a:cubicBezTo>
                    <a:cubicBezTo>
                      <a:pt x="59" y="18"/>
                      <a:pt x="60" y="19"/>
                      <a:pt x="62" y="20"/>
                    </a:cubicBezTo>
                    <a:cubicBezTo>
                      <a:pt x="65" y="22"/>
                      <a:pt x="68" y="25"/>
                      <a:pt x="69" y="28"/>
                    </a:cubicBezTo>
                    <a:cubicBezTo>
                      <a:pt x="71" y="32"/>
                      <a:pt x="68" y="34"/>
                      <a:pt x="64" y="33"/>
                    </a:cubicBezTo>
                    <a:cubicBezTo>
                      <a:pt x="62" y="32"/>
                      <a:pt x="60" y="31"/>
                      <a:pt x="57" y="30"/>
                    </a:cubicBezTo>
                    <a:cubicBezTo>
                      <a:pt x="53" y="28"/>
                      <a:pt x="51" y="29"/>
                      <a:pt x="50" y="34"/>
                    </a:cubicBezTo>
                    <a:cubicBezTo>
                      <a:pt x="48" y="45"/>
                      <a:pt x="46" y="56"/>
                      <a:pt x="52" y="66"/>
                    </a:cubicBezTo>
                    <a:cubicBezTo>
                      <a:pt x="54" y="64"/>
                      <a:pt x="56" y="62"/>
                      <a:pt x="58" y="58"/>
                    </a:cubicBezTo>
                    <a:cubicBezTo>
                      <a:pt x="61" y="62"/>
                      <a:pt x="63" y="65"/>
                      <a:pt x="65" y="69"/>
                    </a:cubicBezTo>
                    <a:cubicBezTo>
                      <a:pt x="68" y="66"/>
                      <a:pt x="72" y="62"/>
                      <a:pt x="75" y="59"/>
                    </a:cubicBezTo>
                    <a:cubicBezTo>
                      <a:pt x="76" y="58"/>
                      <a:pt x="75" y="56"/>
                      <a:pt x="75" y="55"/>
                    </a:cubicBezTo>
                    <a:cubicBezTo>
                      <a:pt x="74" y="53"/>
                      <a:pt x="71" y="51"/>
                      <a:pt x="71" y="50"/>
                    </a:cubicBezTo>
                    <a:cubicBezTo>
                      <a:pt x="72" y="47"/>
                      <a:pt x="75" y="46"/>
                      <a:pt x="78" y="47"/>
                    </a:cubicBezTo>
                    <a:cubicBezTo>
                      <a:pt x="79" y="47"/>
                      <a:pt x="80" y="47"/>
                      <a:pt x="81" y="47"/>
                    </a:cubicBezTo>
                    <a:cubicBezTo>
                      <a:pt x="81" y="44"/>
                      <a:pt x="82" y="40"/>
                      <a:pt x="83" y="35"/>
                    </a:cubicBezTo>
                    <a:cubicBezTo>
                      <a:pt x="76" y="38"/>
                      <a:pt x="71" y="40"/>
                      <a:pt x="65" y="42"/>
                    </a:cubicBezTo>
                    <a:cubicBezTo>
                      <a:pt x="61" y="44"/>
                      <a:pt x="60" y="44"/>
                      <a:pt x="57" y="40"/>
                    </a:cubicBezTo>
                    <a:cubicBezTo>
                      <a:pt x="59" y="39"/>
                      <a:pt x="61" y="38"/>
                      <a:pt x="63" y="37"/>
                    </a:cubicBezTo>
                    <a:cubicBezTo>
                      <a:pt x="69" y="35"/>
                      <a:pt x="75" y="33"/>
                      <a:pt x="81" y="30"/>
                    </a:cubicBezTo>
                    <a:cubicBezTo>
                      <a:pt x="83" y="30"/>
                      <a:pt x="84" y="28"/>
                      <a:pt x="85" y="27"/>
                    </a:cubicBezTo>
                    <a:cubicBezTo>
                      <a:pt x="87" y="21"/>
                      <a:pt x="88" y="14"/>
                      <a:pt x="90" y="8"/>
                    </a:cubicBezTo>
                    <a:cubicBezTo>
                      <a:pt x="90" y="6"/>
                      <a:pt x="92" y="3"/>
                      <a:pt x="93" y="2"/>
                    </a:cubicBezTo>
                    <a:cubicBezTo>
                      <a:pt x="94" y="0"/>
                      <a:pt x="96" y="0"/>
                      <a:pt x="98" y="0"/>
                    </a:cubicBezTo>
                    <a:cubicBezTo>
                      <a:pt x="98" y="1"/>
                      <a:pt x="99" y="4"/>
                      <a:pt x="99" y="5"/>
                    </a:cubicBezTo>
                    <a:cubicBezTo>
                      <a:pt x="93" y="12"/>
                      <a:pt x="94" y="20"/>
                      <a:pt x="92" y="28"/>
                    </a:cubicBezTo>
                    <a:cubicBezTo>
                      <a:pt x="98" y="31"/>
                      <a:pt x="105" y="25"/>
                      <a:pt x="111" y="30"/>
                    </a:cubicBezTo>
                    <a:cubicBezTo>
                      <a:pt x="109" y="33"/>
                      <a:pt x="107" y="36"/>
                      <a:pt x="103" y="35"/>
                    </a:cubicBezTo>
                    <a:cubicBezTo>
                      <a:pt x="103" y="34"/>
                      <a:pt x="102" y="34"/>
                      <a:pt x="102" y="34"/>
                    </a:cubicBezTo>
                    <a:cubicBezTo>
                      <a:pt x="92" y="34"/>
                      <a:pt x="88" y="39"/>
                      <a:pt x="90" y="49"/>
                    </a:cubicBezTo>
                    <a:cubicBezTo>
                      <a:pt x="91" y="52"/>
                      <a:pt x="93" y="55"/>
                      <a:pt x="95" y="59"/>
                    </a:cubicBezTo>
                    <a:cubicBezTo>
                      <a:pt x="99" y="59"/>
                      <a:pt x="104" y="58"/>
                      <a:pt x="109" y="57"/>
                    </a:cubicBezTo>
                    <a:cubicBezTo>
                      <a:pt x="114" y="56"/>
                      <a:pt x="119" y="58"/>
                      <a:pt x="123" y="61"/>
                    </a:cubicBezTo>
                    <a:cubicBezTo>
                      <a:pt x="125" y="63"/>
                      <a:pt x="125" y="66"/>
                      <a:pt x="122" y="67"/>
                    </a:cubicBezTo>
                    <a:cubicBezTo>
                      <a:pt x="118" y="69"/>
                      <a:pt x="114" y="71"/>
                      <a:pt x="110" y="71"/>
                    </a:cubicBezTo>
                    <a:cubicBezTo>
                      <a:pt x="103" y="70"/>
                      <a:pt x="99" y="75"/>
                      <a:pt x="95" y="79"/>
                    </a:cubicBezTo>
                    <a:cubicBezTo>
                      <a:pt x="98" y="80"/>
                      <a:pt x="102" y="80"/>
                      <a:pt x="104" y="82"/>
                    </a:cubicBezTo>
                    <a:cubicBezTo>
                      <a:pt x="106" y="83"/>
                      <a:pt x="108" y="86"/>
                      <a:pt x="109" y="88"/>
                    </a:cubicBezTo>
                    <a:cubicBezTo>
                      <a:pt x="110" y="104"/>
                      <a:pt x="111" y="119"/>
                      <a:pt x="112" y="134"/>
                    </a:cubicBezTo>
                    <a:cubicBezTo>
                      <a:pt x="112" y="137"/>
                      <a:pt x="110" y="140"/>
                      <a:pt x="110" y="142"/>
                    </a:cubicBezTo>
                    <a:cubicBezTo>
                      <a:pt x="107" y="141"/>
                      <a:pt x="104" y="141"/>
                      <a:pt x="102" y="140"/>
                    </a:cubicBezTo>
                    <a:cubicBezTo>
                      <a:pt x="97" y="136"/>
                      <a:pt x="93" y="131"/>
                      <a:pt x="90" y="127"/>
                    </a:cubicBezTo>
                    <a:cubicBezTo>
                      <a:pt x="89" y="126"/>
                      <a:pt x="89" y="124"/>
                      <a:pt x="89" y="123"/>
                    </a:cubicBezTo>
                    <a:cubicBezTo>
                      <a:pt x="92" y="125"/>
                      <a:pt x="96" y="127"/>
                      <a:pt x="100" y="130"/>
                    </a:cubicBezTo>
                    <a:cubicBezTo>
                      <a:pt x="100" y="129"/>
                      <a:pt x="101" y="129"/>
                      <a:pt x="101" y="128"/>
                    </a:cubicBezTo>
                    <a:cubicBezTo>
                      <a:pt x="101" y="121"/>
                      <a:pt x="101" y="113"/>
                      <a:pt x="101" y="105"/>
                    </a:cubicBezTo>
                    <a:cubicBezTo>
                      <a:pt x="101" y="101"/>
                      <a:pt x="101" y="96"/>
                      <a:pt x="101" y="92"/>
                    </a:cubicBezTo>
                    <a:cubicBezTo>
                      <a:pt x="99" y="85"/>
                      <a:pt x="96" y="84"/>
                      <a:pt x="90" y="90"/>
                    </a:cubicBezTo>
                    <a:cubicBezTo>
                      <a:pt x="92" y="93"/>
                      <a:pt x="97" y="93"/>
                      <a:pt x="97" y="99"/>
                    </a:cubicBezTo>
                    <a:cubicBezTo>
                      <a:pt x="94" y="98"/>
                      <a:pt x="91" y="97"/>
                      <a:pt x="88" y="96"/>
                    </a:cubicBezTo>
                    <a:cubicBezTo>
                      <a:pt x="84" y="100"/>
                      <a:pt x="84" y="101"/>
                      <a:pt x="90" y="103"/>
                    </a:cubicBezTo>
                    <a:cubicBezTo>
                      <a:pt x="95" y="106"/>
                      <a:pt x="98" y="111"/>
                      <a:pt x="96" y="112"/>
                    </a:cubicBezTo>
                    <a:cubicBezTo>
                      <a:pt x="92" y="115"/>
                      <a:pt x="89" y="112"/>
                      <a:pt x="86" y="110"/>
                    </a:cubicBezTo>
                    <a:cubicBezTo>
                      <a:pt x="85" y="110"/>
                      <a:pt x="84" y="109"/>
                      <a:pt x="83" y="108"/>
                    </a:cubicBezTo>
                    <a:cubicBezTo>
                      <a:pt x="82" y="112"/>
                      <a:pt x="82" y="116"/>
                      <a:pt x="81" y="120"/>
                    </a:cubicBezTo>
                    <a:cubicBezTo>
                      <a:pt x="74" y="118"/>
                      <a:pt x="72" y="114"/>
                      <a:pt x="73" y="108"/>
                    </a:cubicBezTo>
                    <a:cubicBezTo>
                      <a:pt x="76" y="95"/>
                      <a:pt x="81" y="83"/>
                      <a:pt x="88" y="71"/>
                    </a:cubicBezTo>
                    <a:cubicBezTo>
                      <a:pt x="84" y="74"/>
                      <a:pt x="80" y="76"/>
                      <a:pt x="76" y="78"/>
                    </a:cubicBezTo>
                    <a:cubicBezTo>
                      <a:pt x="71" y="81"/>
                      <a:pt x="65" y="84"/>
                      <a:pt x="60" y="87"/>
                    </a:cubicBezTo>
                    <a:cubicBezTo>
                      <a:pt x="60" y="87"/>
                      <a:pt x="60" y="87"/>
                      <a:pt x="59" y="87"/>
                    </a:cubicBezTo>
                    <a:cubicBezTo>
                      <a:pt x="57" y="88"/>
                      <a:pt x="54" y="88"/>
                      <a:pt x="53" y="89"/>
                    </a:cubicBezTo>
                    <a:cubicBezTo>
                      <a:pt x="51" y="93"/>
                      <a:pt x="49" y="97"/>
                      <a:pt x="49" y="101"/>
                    </a:cubicBezTo>
                    <a:cubicBezTo>
                      <a:pt x="49" y="110"/>
                      <a:pt x="50" y="119"/>
                      <a:pt x="51" y="128"/>
                    </a:cubicBezTo>
                    <a:cubicBezTo>
                      <a:pt x="51" y="131"/>
                      <a:pt x="51" y="134"/>
                      <a:pt x="51" y="137"/>
                    </a:cubicBezTo>
                    <a:cubicBezTo>
                      <a:pt x="48" y="136"/>
                      <a:pt x="45" y="136"/>
                      <a:pt x="43" y="134"/>
                    </a:cubicBezTo>
                    <a:cubicBezTo>
                      <a:pt x="40" y="132"/>
                      <a:pt x="37" y="130"/>
                      <a:pt x="38" y="125"/>
                    </a:cubicBezTo>
                    <a:cubicBezTo>
                      <a:pt x="40" y="119"/>
                      <a:pt x="39" y="113"/>
                      <a:pt x="39" y="107"/>
                    </a:cubicBezTo>
                    <a:cubicBezTo>
                      <a:pt x="38" y="107"/>
                      <a:pt x="38" y="107"/>
                      <a:pt x="37" y="106"/>
                    </a:cubicBezTo>
                    <a:cubicBezTo>
                      <a:pt x="36" y="109"/>
                      <a:pt x="34" y="111"/>
                      <a:pt x="33" y="114"/>
                    </a:cubicBezTo>
                    <a:cubicBezTo>
                      <a:pt x="30" y="120"/>
                      <a:pt x="25" y="122"/>
                      <a:pt x="21" y="120"/>
                    </a:cubicBezTo>
                    <a:cubicBezTo>
                      <a:pt x="16" y="118"/>
                      <a:pt x="15" y="113"/>
                      <a:pt x="17" y="108"/>
                    </a:cubicBezTo>
                    <a:cubicBezTo>
                      <a:pt x="20" y="99"/>
                      <a:pt x="23" y="91"/>
                      <a:pt x="26" y="81"/>
                    </a:cubicBezTo>
                    <a:cubicBezTo>
                      <a:pt x="19" y="90"/>
                      <a:pt x="12" y="85"/>
                      <a:pt x="5" y="81"/>
                    </a:cubicBezTo>
                    <a:cubicBezTo>
                      <a:pt x="0" y="79"/>
                      <a:pt x="0" y="76"/>
                      <a:pt x="5" y="73"/>
                    </a:cubicBezTo>
                    <a:cubicBezTo>
                      <a:pt x="15" y="68"/>
                      <a:pt x="25" y="62"/>
                      <a:pt x="34" y="56"/>
                    </a:cubicBezTo>
                    <a:cubicBezTo>
                      <a:pt x="35" y="55"/>
                      <a:pt x="37" y="54"/>
                      <a:pt x="37" y="52"/>
                    </a:cubicBezTo>
                    <a:cubicBezTo>
                      <a:pt x="38" y="46"/>
                      <a:pt x="38" y="39"/>
                      <a:pt x="38" y="33"/>
                    </a:cubicBezTo>
                    <a:cubicBezTo>
                      <a:pt x="38" y="32"/>
                      <a:pt x="38" y="32"/>
                      <a:pt x="37" y="32"/>
                    </a:cubicBezTo>
                    <a:cubicBezTo>
                      <a:pt x="32" y="40"/>
                      <a:pt x="27" y="48"/>
                      <a:pt x="22" y="55"/>
                    </a:cubicBezTo>
                    <a:cubicBezTo>
                      <a:pt x="22" y="56"/>
                      <a:pt x="22" y="56"/>
                      <a:pt x="23" y="57"/>
                    </a:cubicBezTo>
                    <a:cubicBezTo>
                      <a:pt x="20" y="56"/>
                      <a:pt x="17" y="56"/>
                      <a:pt x="14" y="55"/>
                    </a:cubicBezTo>
                    <a:cubicBezTo>
                      <a:pt x="9" y="53"/>
                      <a:pt x="7" y="49"/>
                      <a:pt x="9" y="44"/>
                    </a:cubicBezTo>
                    <a:cubicBezTo>
                      <a:pt x="10" y="42"/>
                      <a:pt x="10" y="39"/>
                      <a:pt x="11" y="36"/>
                    </a:cubicBezTo>
                    <a:cubicBezTo>
                      <a:pt x="13" y="28"/>
                      <a:pt x="18" y="23"/>
                      <a:pt x="26" y="20"/>
                    </a:cubicBezTo>
                    <a:cubicBezTo>
                      <a:pt x="27" y="19"/>
                      <a:pt x="30" y="20"/>
                      <a:pt x="32" y="22"/>
                    </a:cubicBezTo>
                    <a:cubicBezTo>
                      <a:pt x="34" y="23"/>
                      <a:pt x="32" y="25"/>
                      <a:pt x="31" y="27"/>
                    </a:cubicBezTo>
                    <a:cubicBezTo>
                      <a:pt x="29" y="28"/>
                      <a:pt x="29" y="31"/>
                      <a:pt x="28" y="33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72" name="Freeform 6"/>
              <p:cNvSpPr/>
              <p:nvPr/>
            </p:nvSpPr>
            <p:spPr bwMode="auto">
              <a:xfrm>
                <a:off x="12756799" y="2388393"/>
                <a:ext cx="307975" cy="463550"/>
              </a:xfrm>
              <a:custGeom>
                <a:avLst/>
                <a:gdLst>
                  <a:gd name="T0" fmla="*/ 33 w 72"/>
                  <a:gd name="T1" fmla="*/ 76 h 109"/>
                  <a:gd name="T2" fmla="*/ 44 w 72"/>
                  <a:gd name="T3" fmla="*/ 73 h 109"/>
                  <a:gd name="T4" fmla="*/ 59 w 72"/>
                  <a:gd name="T5" fmla="*/ 71 h 109"/>
                  <a:gd name="T6" fmla="*/ 69 w 72"/>
                  <a:gd name="T7" fmla="*/ 92 h 109"/>
                  <a:gd name="T8" fmla="*/ 66 w 72"/>
                  <a:gd name="T9" fmla="*/ 94 h 109"/>
                  <a:gd name="T10" fmla="*/ 49 w 72"/>
                  <a:gd name="T11" fmla="*/ 96 h 109"/>
                  <a:gd name="T12" fmla="*/ 28 w 72"/>
                  <a:gd name="T13" fmla="*/ 106 h 109"/>
                  <a:gd name="T14" fmla="*/ 16 w 72"/>
                  <a:gd name="T15" fmla="*/ 106 h 109"/>
                  <a:gd name="T16" fmla="*/ 1 w 72"/>
                  <a:gd name="T17" fmla="*/ 80 h 109"/>
                  <a:gd name="T18" fmla="*/ 2 w 72"/>
                  <a:gd name="T19" fmla="*/ 74 h 109"/>
                  <a:gd name="T20" fmla="*/ 23 w 72"/>
                  <a:gd name="T21" fmla="*/ 31 h 109"/>
                  <a:gd name="T22" fmla="*/ 22 w 72"/>
                  <a:gd name="T23" fmla="*/ 26 h 109"/>
                  <a:gd name="T24" fmla="*/ 12 w 72"/>
                  <a:gd name="T25" fmla="*/ 16 h 109"/>
                  <a:gd name="T26" fmla="*/ 15 w 72"/>
                  <a:gd name="T27" fmla="*/ 10 h 109"/>
                  <a:gd name="T28" fmla="*/ 32 w 72"/>
                  <a:gd name="T29" fmla="*/ 5 h 109"/>
                  <a:gd name="T30" fmla="*/ 60 w 72"/>
                  <a:gd name="T31" fmla="*/ 18 h 109"/>
                  <a:gd name="T32" fmla="*/ 59 w 72"/>
                  <a:gd name="T33" fmla="*/ 26 h 109"/>
                  <a:gd name="T34" fmla="*/ 52 w 72"/>
                  <a:gd name="T35" fmla="*/ 36 h 109"/>
                  <a:gd name="T36" fmla="*/ 34 w 72"/>
                  <a:gd name="T37" fmla="*/ 72 h 109"/>
                  <a:gd name="T38" fmla="*/ 33 w 72"/>
                  <a:gd name="T39" fmla="*/ 76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2" h="109">
                    <a:moveTo>
                      <a:pt x="33" y="76"/>
                    </a:moveTo>
                    <a:cubicBezTo>
                      <a:pt x="37" y="74"/>
                      <a:pt x="40" y="73"/>
                      <a:pt x="44" y="73"/>
                    </a:cubicBezTo>
                    <a:cubicBezTo>
                      <a:pt x="49" y="72"/>
                      <a:pt x="54" y="71"/>
                      <a:pt x="59" y="71"/>
                    </a:cubicBezTo>
                    <a:cubicBezTo>
                      <a:pt x="66" y="72"/>
                      <a:pt x="72" y="85"/>
                      <a:pt x="69" y="92"/>
                    </a:cubicBezTo>
                    <a:cubicBezTo>
                      <a:pt x="68" y="93"/>
                      <a:pt x="67" y="94"/>
                      <a:pt x="66" y="94"/>
                    </a:cubicBezTo>
                    <a:cubicBezTo>
                      <a:pt x="60" y="95"/>
                      <a:pt x="54" y="94"/>
                      <a:pt x="49" y="96"/>
                    </a:cubicBezTo>
                    <a:cubicBezTo>
                      <a:pt x="42" y="99"/>
                      <a:pt x="35" y="102"/>
                      <a:pt x="28" y="106"/>
                    </a:cubicBezTo>
                    <a:cubicBezTo>
                      <a:pt x="24" y="108"/>
                      <a:pt x="21" y="109"/>
                      <a:pt x="16" y="106"/>
                    </a:cubicBezTo>
                    <a:cubicBezTo>
                      <a:pt x="7" y="100"/>
                      <a:pt x="3" y="90"/>
                      <a:pt x="1" y="80"/>
                    </a:cubicBezTo>
                    <a:cubicBezTo>
                      <a:pt x="0" y="78"/>
                      <a:pt x="1" y="76"/>
                      <a:pt x="2" y="74"/>
                    </a:cubicBezTo>
                    <a:cubicBezTo>
                      <a:pt x="9" y="60"/>
                      <a:pt x="16" y="45"/>
                      <a:pt x="23" y="31"/>
                    </a:cubicBezTo>
                    <a:cubicBezTo>
                      <a:pt x="23" y="30"/>
                      <a:pt x="23" y="28"/>
                      <a:pt x="22" y="26"/>
                    </a:cubicBezTo>
                    <a:cubicBezTo>
                      <a:pt x="19" y="23"/>
                      <a:pt x="15" y="20"/>
                      <a:pt x="12" y="16"/>
                    </a:cubicBezTo>
                    <a:cubicBezTo>
                      <a:pt x="10" y="13"/>
                      <a:pt x="11" y="11"/>
                      <a:pt x="15" y="10"/>
                    </a:cubicBezTo>
                    <a:cubicBezTo>
                      <a:pt x="21" y="9"/>
                      <a:pt x="26" y="7"/>
                      <a:pt x="32" y="5"/>
                    </a:cubicBezTo>
                    <a:cubicBezTo>
                      <a:pt x="44" y="0"/>
                      <a:pt x="57" y="6"/>
                      <a:pt x="60" y="18"/>
                    </a:cubicBezTo>
                    <a:cubicBezTo>
                      <a:pt x="61" y="21"/>
                      <a:pt x="60" y="24"/>
                      <a:pt x="59" y="26"/>
                    </a:cubicBezTo>
                    <a:cubicBezTo>
                      <a:pt x="57" y="29"/>
                      <a:pt x="54" y="33"/>
                      <a:pt x="52" y="36"/>
                    </a:cubicBezTo>
                    <a:cubicBezTo>
                      <a:pt x="46" y="48"/>
                      <a:pt x="40" y="60"/>
                      <a:pt x="34" y="72"/>
                    </a:cubicBezTo>
                    <a:cubicBezTo>
                      <a:pt x="34" y="72"/>
                      <a:pt x="34" y="74"/>
                      <a:pt x="33" y="76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grpSp>
            <p:nvGrpSpPr>
              <p:cNvPr id="73" name="组合 72"/>
              <p:cNvGrpSpPr/>
              <p:nvPr/>
            </p:nvGrpSpPr>
            <p:grpSpPr>
              <a:xfrm>
                <a:off x="10340336" y="2247899"/>
                <a:ext cx="547688" cy="679451"/>
                <a:chOff x="5548313" y="2084388"/>
                <a:chExt cx="547688" cy="679451"/>
              </a:xfrm>
              <a:grpFill/>
            </p:grpSpPr>
            <p:sp>
              <p:nvSpPr>
                <p:cNvPr id="78" name="Freeform 7"/>
                <p:cNvSpPr/>
                <p:nvPr/>
              </p:nvSpPr>
              <p:spPr bwMode="auto">
                <a:xfrm>
                  <a:off x="5548313" y="2084388"/>
                  <a:ext cx="547688" cy="446088"/>
                </a:xfrm>
                <a:custGeom>
                  <a:avLst/>
                  <a:gdLst>
                    <a:gd name="T0" fmla="*/ 101 w 128"/>
                    <a:gd name="T1" fmla="*/ 58 h 105"/>
                    <a:gd name="T2" fmla="*/ 74 w 128"/>
                    <a:gd name="T3" fmla="*/ 56 h 105"/>
                    <a:gd name="T4" fmla="*/ 68 w 128"/>
                    <a:gd name="T5" fmla="*/ 57 h 105"/>
                    <a:gd name="T6" fmla="*/ 51 w 128"/>
                    <a:gd name="T7" fmla="*/ 59 h 105"/>
                    <a:gd name="T8" fmla="*/ 36 w 128"/>
                    <a:gd name="T9" fmla="*/ 65 h 105"/>
                    <a:gd name="T10" fmla="*/ 28 w 128"/>
                    <a:gd name="T11" fmla="*/ 73 h 105"/>
                    <a:gd name="T12" fmla="*/ 16 w 128"/>
                    <a:gd name="T13" fmla="*/ 102 h 105"/>
                    <a:gd name="T14" fmla="*/ 13 w 128"/>
                    <a:gd name="T15" fmla="*/ 104 h 105"/>
                    <a:gd name="T16" fmla="*/ 1 w 128"/>
                    <a:gd name="T17" fmla="*/ 98 h 105"/>
                    <a:gd name="T18" fmla="*/ 0 w 128"/>
                    <a:gd name="T19" fmla="*/ 93 h 105"/>
                    <a:gd name="T20" fmla="*/ 15 w 128"/>
                    <a:gd name="T21" fmla="*/ 60 h 105"/>
                    <a:gd name="T22" fmla="*/ 16 w 128"/>
                    <a:gd name="T23" fmla="*/ 58 h 105"/>
                    <a:gd name="T24" fmla="*/ 20 w 128"/>
                    <a:gd name="T25" fmla="*/ 52 h 105"/>
                    <a:gd name="T26" fmla="*/ 32 w 128"/>
                    <a:gd name="T27" fmla="*/ 54 h 105"/>
                    <a:gd name="T28" fmla="*/ 39 w 128"/>
                    <a:gd name="T29" fmla="*/ 55 h 105"/>
                    <a:gd name="T30" fmla="*/ 72 w 128"/>
                    <a:gd name="T31" fmla="*/ 21 h 105"/>
                    <a:gd name="T32" fmla="*/ 74 w 128"/>
                    <a:gd name="T33" fmla="*/ 16 h 105"/>
                    <a:gd name="T34" fmla="*/ 74 w 128"/>
                    <a:gd name="T35" fmla="*/ 11 h 105"/>
                    <a:gd name="T36" fmla="*/ 71 w 128"/>
                    <a:gd name="T37" fmla="*/ 11 h 105"/>
                    <a:gd name="T38" fmla="*/ 68 w 128"/>
                    <a:gd name="T39" fmla="*/ 15 h 105"/>
                    <a:gd name="T40" fmla="*/ 68 w 128"/>
                    <a:gd name="T41" fmla="*/ 21 h 105"/>
                    <a:gd name="T42" fmla="*/ 59 w 128"/>
                    <a:gd name="T43" fmla="*/ 29 h 105"/>
                    <a:gd name="T44" fmla="*/ 53 w 128"/>
                    <a:gd name="T45" fmla="*/ 27 h 105"/>
                    <a:gd name="T46" fmla="*/ 47 w 128"/>
                    <a:gd name="T47" fmla="*/ 24 h 105"/>
                    <a:gd name="T48" fmla="*/ 47 w 128"/>
                    <a:gd name="T49" fmla="*/ 32 h 105"/>
                    <a:gd name="T50" fmla="*/ 47 w 128"/>
                    <a:gd name="T51" fmla="*/ 34 h 105"/>
                    <a:gd name="T52" fmla="*/ 43 w 128"/>
                    <a:gd name="T53" fmla="*/ 45 h 105"/>
                    <a:gd name="T54" fmla="*/ 31 w 128"/>
                    <a:gd name="T55" fmla="*/ 39 h 105"/>
                    <a:gd name="T56" fmla="*/ 29 w 128"/>
                    <a:gd name="T57" fmla="*/ 23 h 105"/>
                    <a:gd name="T58" fmla="*/ 33 w 128"/>
                    <a:gd name="T59" fmla="*/ 14 h 105"/>
                    <a:gd name="T60" fmla="*/ 36 w 128"/>
                    <a:gd name="T61" fmla="*/ 9 h 105"/>
                    <a:gd name="T62" fmla="*/ 42 w 128"/>
                    <a:gd name="T63" fmla="*/ 13 h 105"/>
                    <a:gd name="T64" fmla="*/ 44 w 128"/>
                    <a:gd name="T65" fmla="*/ 16 h 105"/>
                    <a:gd name="T66" fmla="*/ 57 w 128"/>
                    <a:gd name="T67" fmla="*/ 14 h 105"/>
                    <a:gd name="T68" fmla="*/ 62 w 128"/>
                    <a:gd name="T69" fmla="*/ 11 h 105"/>
                    <a:gd name="T70" fmla="*/ 84 w 128"/>
                    <a:gd name="T71" fmla="*/ 0 h 105"/>
                    <a:gd name="T72" fmla="*/ 96 w 128"/>
                    <a:gd name="T73" fmla="*/ 7 h 105"/>
                    <a:gd name="T74" fmla="*/ 96 w 128"/>
                    <a:gd name="T75" fmla="*/ 20 h 105"/>
                    <a:gd name="T76" fmla="*/ 83 w 128"/>
                    <a:gd name="T77" fmla="*/ 43 h 105"/>
                    <a:gd name="T78" fmla="*/ 94 w 128"/>
                    <a:gd name="T79" fmla="*/ 44 h 105"/>
                    <a:gd name="T80" fmla="*/ 122 w 128"/>
                    <a:gd name="T81" fmla="*/ 59 h 105"/>
                    <a:gd name="T82" fmla="*/ 120 w 128"/>
                    <a:gd name="T83" fmla="*/ 73 h 105"/>
                    <a:gd name="T84" fmla="*/ 98 w 128"/>
                    <a:gd name="T85" fmla="*/ 73 h 105"/>
                    <a:gd name="T86" fmla="*/ 97 w 128"/>
                    <a:gd name="T87" fmla="*/ 66 h 105"/>
                    <a:gd name="T88" fmla="*/ 101 w 128"/>
                    <a:gd name="T89" fmla="*/ 58 h 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</a:cxnLst>
                  <a:rect l="0" t="0" r="r" b="b"/>
                  <a:pathLst>
                    <a:path w="128" h="105">
                      <a:moveTo>
                        <a:pt x="101" y="58"/>
                      </a:moveTo>
                      <a:cubicBezTo>
                        <a:pt x="94" y="52"/>
                        <a:pt x="81" y="52"/>
                        <a:pt x="74" y="56"/>
                      </a:cubicBezTo>
                      <a:cubicBezTo>
                        <a:pt x="73" y="57"/>
                        <a:pt x="70" y="58"/>
                        <a:pt x="68" y="57"/>
                      </a:cubicBezTo>
                      <a:cubicBezTo>
                        <a:pt x="62" y="56"/>
                        <a:pt x="57" y="57"/>
                        <a:pt x="51" y="59"/>
                      </a:cubicBezTo>
                      <a:cubicBezTo>
                        <a:pt x="46" y="61"/>
                        <a:pt x="41" y="63"/>
                        <a:pt x="36" y="65"/>
                      </a:cubicBezTo>
                      <a:cubicBezTo>
                        <a:pt x="32" y="67"/>
                        <a:pt x="29" y="69"/>
                        <a:pt x="28" y="73"/>
                      </a:cubicBezTo>
                      <a:cubicBezTo>
                        <a:pt x="24" y="82"/>
                        <a:pt x="20" y="92"/>
                        <a:pt x="16" y="102"/>
                      </a:cubicBezTo>
                      <a:cubicBezTo>
                        <a:pt x="16" y="103"/>
                        <a:pt x="14" y="105"/>
                        <a:pt x="13" y="104"/>
                      </a:cubicBezTo>
                      <a:cubicBezTo>
                        <a:pt x="9" y="103"/>
                        <a:pt x="5" y="100"/>
                        <a:pt x="1" y="98"/>
                      </a:cubicBezTo>
                      <a:cubicBezTo>
                        <a:pt x="0" y="97"/>
                        <a:pt x="0" y="95"/>
                        <a:pt x="0" y="93"/>
                      </a:cubicBezTo>
                      <a:cubicBezTo>
                        <a:pt x="5" y="82"/>
                        <a:pt x="10" y="71"/>
                        <a:pt x="15" y="60"/>
                      </a:cubicBezTo>
                      <a:cubicBezTo>
                        <a:pt x="15" y="59"/>
                        <a:pt x="16" y="59"/>
                        <a:pt x="16" y="58"/>
                      </a:cubicBezTo>
                      <a:cubicBezTo>
                        <a:pt x="18" y="56"/>
                        <a:pt x="19" y="52"/>
                        <a:pt x="20" y="52"/>
                      </a:cubicBezTo>
                      <a:cubicBezTo>
                        <a:pt x="24" y="52"/>
                        <a:pt x="29" y="52"/>
                        <a:pt x="32" y="54"/>
                      </a:cubicBezTo>
                      <a:cubicBezTo>
                        <a:pt x="35" y="55"/>
                        <a:pt x="36" y="56"/>
                        <a:pt x="39" y="55"/>
                      </a:cubicBezTo>
                      <a:cubicBezTo>
                        <a:pt x="57" y="50"/>
                        <a:pt x="66" y="37"/>
                        <a:pt x="72" y="21"/>
                      </a:cubicBezTo>
                      <a:cubicBezTo>
                        <a:pt x="72" y="20"/>
                        <a:pt x="73" y="18"/>
                        <a:pt x="74" y="16"/>
                      </a:cubicBezTo>
                      <a:cubicBezTo>
                        <a:pt x="74" y="14"/>
                        <a:pt x="74" y="13"/>
                        <a:pt x="74" y="11"/>
                      </a:cubicBezTo>
                      <a:cubicBezTo>
                        <a:pt x="74" y="11"/>
                        <a:pt x="72" y="10"/>
                        <a:pt x="71" y="11"/>
                      </a:cubicBezTo>
                      <a:cubicBezTo>
                        <a:pt x="70" y="12"/>
                        <a:pt x="68" y="13"/>
                        <a:pt x="68" y="15"/>
                      </a:cubicBezTo>
                      <a:cubicBezTo>
                        <a:pt x="67" y="17"/>
                        <a:pt x="68" y="19"/>
                        <a:pt x="68" y="21"/>
                      </a:cubicBezTo>
                      <a:cubicBezTo>
                        <a:pt x="69" y="28"/>
                        <a:pt x="68" y="30"/>
                        <a:pt x="59" y="29"/>
                      </a:cubicBezTo>
                      <a:cubicBezTo>
                        <a:pt x="57" y="29"/>
                        <a:pt x="55" y="28"/>
                        <a:pt x="53" y="27"/>
                      </a:cubicBezTo>
                      <a:cubicBezTo>
                        <a:pt x="51" y="26"/>
                        <a:pt x="49" y="25"/>
                        <a:pt x="47" y="24"/>
                      </a:cubicBezTo>
                      <a:cubicBezTo>
                        <a:pt x="47" y="27"/>
                        <a:pt x="47" y="29"/>
                        <a:pt x="47" y="32"/>
                      </a:cubicBezTo>
                      <a:cubicBezTo>
                        <a:pt x="47" y="33"/>
                        <a:pt x="47" y="33"/>
                        <a:pt x="47" y="34"/>
                      </a:cubicBezTo>
                      <a:cubicBezTo>
                        <a:pt x="47" y="38"/>
                        <a:pt x="48" y="43"/>
                        <a:pt x="43" y="45"/>
                      </a:cubicBezTo>
                      <a:cubicBezTo>
                        <a:pt x="39" y="46"/>
                        <a:pt x="34" y="44"/>
                        <a:pt x="31" y="39"/>
                      </a:cubicBezTo>
                      <a:cubicBezTo>
                        <a:pt x="28" y="34"/>
                        <a:pt x="25" y="29"/>
                        <a:pt x="29" y="23"/>
                      </a:cubicBezTo>
                      <a:cubicBezTo>
                        <a:pt x="31" y="20"/>
                        <a:pt x="31" y="17"/>
                        <a:pt x="33" y="14"/>
                      </a:cubicBezTo>
                      <a:cubicBezTo>
                        <a:pt x="34" y="12"/>
                        <a:pt x="35" y="9"/>
                        <a:pt x="36" y="9"/>
                      </a:cubicBezTo>
                      <a:cubicBezTo>
                        <a:pt x="38" y="10"/>
                        <a:pt x="40" y="11"/>
                        <a:pt x="42" y="13"/>
                      </a:cubicBezTo>
                      <a:cubicBezTo>
                        <a:pt x="42" y="13"/>
                        <a:pt x="43" y="15"/>
                        <a:pt x="44" y="16"/>
                      </a:cubicBezTo>
                      <a:cubicBezTo>
                        <a:pt x="48" y="13"/>
                        <a:pt x="52" y="11"/>
                        <a:pt x="57" y="14"/>
                      </a:cubicBezTo>
                      <a:cubicBezTo>
                        <a:pt x="58" y="15"/>
                        <a:pt x="61" y="13"/>
                        <a:pt x="62" y="11"/>
                      </a:cubicBezTo>
                      <a:cubicBezTo>
                        <a:pt x="69" y="5"/>
                        <a:pt x="75" y="0"/>
                        <a:pt x="84" y="0"/>
                      </a:cubicBezTo>
                      <a:cubicBezTo>
                        <a:pt x="89" y="0"/>
                        <a:pt x="93" y="2"/>
                        <a:pt x="96" y="7"/>
                      </a:cubicBezTo>
                      <a:cubicBezTo>
                        <a:pt x="99" y="11"/>
                        <a:pt x="98" y="15"/>
                        <a:pt x="96" y="20"/>
                      </a:cubicBezTo>
                      <a:cubicBezTo>
                        <a:pt x="91" y="27"/>
                        <a:pt x="87" y="35"/>
                        <a:pt x="83" y="43"/>
                      </a:cubicBezTo>
                      <a:cubicBezTo>
                        <a:pt x="88" y="43"/>
                        <a:pt x="91" y="44"/>
                        <a:pt x="94" y="44"/>
                      </a:cubicBezTo>
                      <a:cubicBezTo>
                        <a:pt x="105" y="46"/>
                        <a:pt x="115" y="50"/>
                        <a:pt x="122" y="59"/>
                      </a:cubicBezTo>
                      <a:cubicBezTo>
                        <a:pt x="128" y="65"/>
                        <a:pt x="127" y="68"/>
                        <a:pt x="120" y="73"/>
                      </a:cubicBezTo>
                      <a:cubicBezTo>
                        <a:pt x="113" y="77"/>
                        <a:pt x="105" y="77"/>
                        <a:pt x="98" y="73"/>
                      </a:cubicBezTo>
                      <a:cubicBezTo>
                        <a:pt x="95" y="71"/>
                        <a:pt x="95" y="69"/>
                        <a:pt x="97" y="66"/>
                      </a:cubicBezTo>
                      <a:cubicBezTo>
                        <a:pt x="98" y="64"/>
                        <a:pt x="100" y="61"/>
                        <a:pt x="101" y="58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79" name="Freeform 8"/>
                <p:cNvSpPr/>
                <p:nvPr/>
              </p:nvSpPr>
              <p:spPr bwMode="auto">
                <a:xfrm>
                  <a:off x="5664200" y="2355851"/>
                  <a:ext cx="341313" cy="407988"/>
                </a:xfrm>
                <a:custGeom>
                  <a:avLst/>
                  <a:gdLst>
                    <a:gd name="T0" fmla="*/ 46 w 80"/>
                    <a:gd name="T1" fmla="*/ 29 h 96"/>
                    <a:gd name="T2" fmla="*/ 65 w 80"/>
                    <a:gd name="T3" fmla="*/ 29 h 96"/>
                    <a:gd name="T4" fmla="*/ 79 w 80"/>
                    <a:gd name="T5" fmla="*/ 41 h 96"/>
                    <a:gd name="T6" fmla="*/ 74 w 80"/>
                    <a:gd name="T7" fmla="*/ 43 h 96"/>
                    <a:gd name="T8" fmla="*/ 60 w 80"/>
                    <a:gd name="T9" fmla="*/ 43 h 96"/>
                    <a:gd name="T10" fmla="*/ 52 w 80"/>
                    <a:gd name="T11" fmla="*/ 50 h 96"/>
                    <a:gd name="T12" fmla="*/ 49 w 80"/>
                    <a:gd name="T13" fmla="*/ 87 h 96"/>
                    <a:gd name="T14" fmla="*/ 37 w 80"/>
                    <a:gd name="T15" fmla="*/ 95 h 96"/>
                    <a:gd name="T16" fmla="*/ 21 w 80"/>
                    <a:gd name="T17" fmla="*/ 68 h 96"/>
                    <a:gd name="T18" fmla="*/ 22 w 80"/>
                    <a:gd name="T19" fmla="*/ 62 h 96"/>
                    <a:gd name="T20" fmla="*/ 30 w 80"/>
                    <a:gd name="T21" fmla="*/ 72 h 96"/>
                    <a:gd name="T22" fmla="*/ 40 w 80"/>
                    <a:gd name="T23" fmla="*/ 70 h 96"/>
                    <a:gd name="T24" fmla="*/ 43 w 80"/>
                    <a:gd name="T25" fmla="*/ 46 h 96"/>
                    <a:gd name="T26" fmla="*/ 24 w 80"/>
                    <a:gd name="T27" fmla="*/ 52 h 96"/>
                    <a:gd name="T28" fmla="*/ 19 w 80"/>
                    <a:gd name="T29" fmla="*/ 54 h 96"/>
                    <a:gd name="T30" fmla="*/ 6 w 80"/>
                    <a:gd name="T31" fmla="*/ 54 h 96"/>
                    <a:gd name="T32" fmla="*/ 2 w 80"/>
                    <a:gd name="T33" fmla="*/ 40 h 96"/>
                    <a:gd name="T34" fmla="*/ 6 w 80"/>
                    <a:gd name="T35" fmla="*/ 37 h 96"/>
                    <a:gd name="T36" fmla="*/ 28 w 80"/>
                    <a:gd name="T37" fmla="*/ 33 h 96"/>
                    <a:gd name="T38" fmla="*/ 33 w 80"/>
                    <a:gd name="T39" fmla="*/ 32 h 96"/>
                    <a:gd name="T40" fmla="*/ 36 w 80"/>
                    <a:gd name="T41" fmla="*/ 22 h 96"/>
                    <a:gd name="T42" fmla="*/ 46 w 80"/>
                    <a:gd name="T43" fmla="*/ 12 h 96"/>
                    <a:gd name="T44" fmla="*/ 45 w 80"/>
                    <a:gd name="T45" fmla="*/ 10 h 96"/>
                    <a:gd name="T46" fmla="*/ 26 w 80"/>
                    <a:gd name="T47" fmla="*/ 17 h 96"/>
                    <a:gd name="T48" fmla="*/ 15 w 80"/>
                    <a:gd name="T49" fmla="*/ 24 h 96"/>
                    <a:gd name="T50" fmla="*/ 5 w 80"/>
                    <a:gd name="T51" fmla="*/ 22 h 96"/>
                    <a:gd name="T52" fmla="*/ 1 w 80"/>
                    <a:gd name="T53" fmla="*/ 17 h 96"/>
                    <a:gd name="T54" fmla="*/ 36 w 80"/>
                    <a:gd name="T55" fmla="*/ 2 h 96"/>
                    <a:gd name="T56" fmla="*/ 55 w 80"/>
                    <a:gd name="T57" fmla="*/ 0 h 96"/>
                    <a:gd name="T58" fmla="*/ 61 w 80"/>
                    <a:gd name="T59" fmla="*/ 6 h 96"/>
                    <a:gd name="T60" fmla="*/ 59 w 80"/>
                    <a:gd name="T61" fmla="*/ 13 h 96"/>
                    <a:gd name="T62" fmla="*/ 46 w 80"/>
                    <a:gd name="T63" fmla="*/ 29 h 9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</a:cxnLst>
                  <a:rect l="0" t="0" r="r" b="b"/>
                  <a:pathLst>
                    <a:path w="80" h="96">
                      <a:moveTo>
                        <a:pt x="46" y="29"/>
                      </a:moveTo>
                      <a:cubicBezTo>
                        <a:pt x="53" y="30"/>
                        <a:pt x="59" y="31"/>
                        <a:pt x="65" y="29"/>
                      </a:cubicBezTo>
                      <a:cubicBezTo>
                        <a:pt x="71" y="27"/>
                        <a:pt x="80" y="34"/>
                        <a:pt x="79" y="41"/>
                      </a:cubicBezTo>
                      <a:cubicBezTo>
                        <a:pt x="79" y="42"/>
                        <a:pt x="76" y="43"/>
                        <a:pt x="74" y="43"/>
                      </a:cubicBezTo>
                      <a:cubicBezTo>
                        <a:pt x="70" y="43"/>
                        <a:pt x="65" y="43"/>
                        <a:pt x="60" y="43"/>
                      </a:cubicBezTo>
                      <a:cubicBezTo>
                        <a:pt x="53" y="42"/>
                        <a:pt x="52" y="44"/>
                        <a:pt x="52" y="50"/>
                      </a:cubicBezTo>
                      <a:cubicBezTo>
                        <a:pt x="51" y="62"/>
                        <a:pt x="51" y="75"/>
                        <a:pt x="49" y="87"/>
                      </a:cubicBezTo>
                      <a:cubicBezTo>
                        <a:pt x="48" y="95"/>
                        <a:pt x="45" y="96"/>
                        <a:pt x="37" y="95"/>
                      </a:cubicBezTo>
                      <a:cubicBezTo>
                        <a:pt x="25" y="92"/>
                        <a:pt x="15" y="82"/>
                        <a:pt x="21" y="68"/>
                      </a:cubicBezTo>
                      <a:cubicBezTo>
                        <a:pt x="21" y="66"/>
                        <a:pt x="21" y="64"/>
                        <a:pt x="22" y="62"/>
                      </a:cubicBezTo>
                      <a:cubicBezTo>
                        <a:pt x="24" y="65"/>
                        <a:pt x="27" y="69"/>
                        <a:pt x="30" y="72"/>
                      </a:cubicBezTo>
                      <a:cubicBezTo>
                        <a:pt x="33" y="76"/>
                        <a:pt x="39" y="75"/>
                        <a:pt x="40" y="70"/>
                      </a:cubicBezTo>
                      <a:cubicBezTo>
                        <a:pt x="41" y="62"/>
                        <a:pt x="42" y="54"/>
                        <a:pt x="43" y="46"/>
                      </a:cubicBezTo>
                      <a:cubicBezTo>
                        <a:pt x="35" y="45"/>
                        <a:pt x="30" y="49"/>
                        <a:pt x="24" y="52"/>
                      </a:cubicBezTo>
                      <a:cubicBezTo>
                        <a:pt x="22" y="52"/>
                        <a:pt x="21" y="54"/>
                        <a:pt x="19" y="54"/>
                      </a:cubicBezTo>
                      <a:cubicBezTo>
                        <a:pt x="14" y="58"/>
                        <a:pt x="11" y="57"/>
                        <a:pt x="6" y="54"/>
                      </a:cubicBezTo>
                      <a:cubicBezTo>
                        <a:pt x="3" y="51"/>
                        <a:pt x="0" y="44"/>
                        <a:pt x="2" y="40"/>
                      </a:cubicBezTo>
                      <a:cubicBezTo>
                        <a:pt x="2" y="39"/>
                        <a:pt x="5" y="37"/>
                        <a:pt x="6" y="37"/>
                      </a:cubicBezTo>
                      <a:cubicBezTo>
                        <a:pt x="14" y="39"/>
                        <a:pt x="20" y="35"/>
                        <a:pt x="28" y="33"/>
                      </a:cubicBezTo>
                      <a:cubicBezTo>
                        <a:pt x="29" y="33"/>
                        <a:pt x="31" y="32"/>
                        <a:pt x="33" y="32"/>
                      </a:cubicBezTo>
                      <a:cubicBezTo>
                        <a:pt x="31" y="27"/>
                        <a:pt x="31" y="24"/>
                        <a:pt x="36" y="22"/>
                      </a:cubicBezTo>
                      <a:cubicBezTo>
                        <a:pt x="39" y="19"/>
                        <a:pt x="42" y="15"/>
                        <a:pt x="46" y="12"/>
                      </a:cubicBezTo>
                      <a:cubicBezTo>
                        <a:pt x="45" y="11"/>
                        <a:pt x="45" y="11"/>
                        <a:pt x="45" y="10"/>
                      </a:cubicBezTo>
                      <a:cubicBezTo>
                        <a:pt x="38" y="13"/>
                        <a:pt x="32" y="15"/>
                        <a:pt x="26" y="17"/>
                      </a:cubicBezTo>
                      <a:cubicBezTo>
                        <a:pt x="22" y="19"/>
                        <a:pt x="18" y="22"/>
                        <a:pt x="15" y="24"/>
                      </a:cubicBezTo>
                      <a:cubicBezTo>
                        <a:pt x="11" y="26"/>
                        <a:pt x="7" y="27"/>
                        <a:pt x="5" y="22"/>
                      </a:cubicBezTo>
                      <a:cubicBezTo>
                        <a:pt x="4" y="20"/>
                        <a:pt x="3" y="19"/>
                        <a:pt x="1" y="17"/>
                      </a:cubicBezTo>
                      <a:cubicBezTo>
                        <a:pt x="13" y="12"/>
                        <a:pt x="25" y="6"/>
                        <a:pt x="36" y="2"/>
                      </a:cubicBezTo>
                      <a:cubicBezTo>
                        <a:pt x="42" y="0"/>
                        <a:pt x="49" y="0"/>
                        <a:pt x="55" y="0"/>
                      </a:cubicBezTo>
                      <a:cubicBezTo>
                        <a:pt x="57" y="0"/>
                        <a:pt x="60" y="4"/>
                        <a:pt x="61" y="6"/>
                      </a:cubicBezTo>
                      <a:cubicBezTo>
                        <a:pt x="62" y="8"/>
                        <a:pt x="61" y="11"/>
                        <a:pt x="59" y="13"/>
                      </a:cubicBezTo>
                      <a:cubicBezTo>
                        <a:pt x="55" y="18"/>
                        <a:pt x="51" y="23"/>
                        <a:pt x="4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11192276" y="2400300"/>
                <a:ext cx="322175" cy="373063"/>
                <a:chOff x="3792874" y="3138488"/>
                <a:chExt cx="322175" cy="373063"/>
              </a:xfrm>
              <a:grpFill/>
            </p:grpSpPr>
            <p:sp>
              <p:nvSpPr>
                <p:cNvPr id="75" name="Freeform 15"/>
                <p:cNvSpPr/>
                <p:nvPr/>
              </p:nvSpPr>
              <p:spPr bwMode="auto">
                <a:xfrm>
                  <a:off x="3792874" y="3235325"/>
                  <a:ext cx="112625" cy="246063"/>
                </a:xfrm>
                <a:custGeom>
                  <a:avLst/>
                  <a:gdLst>
                    <a:gd name="T0" fmla="*/ 16 w 39"/>
                    <a:gd name="T1" fmla="*/ 29 h 58"/>
                    <a:gd name="T2" fmla="*/ 27 w 39"/>
                    <a:gd name="T3" fmla="*/ 7 h 58"/>
                    <a:gd name="T4" fmla="*/ 31 w 39"/>
                    <a:gd name="T5" fmla="*/ 1 h 58"/>
                    <a:gd name="T6" fmla="*/ 34 w 39"/>
                    <a:gd name="T7" fmla="*/ 6 h 58"/>
                    <a:gd name="T8" fmla="*/ 35 w 39"/>
                    <a:gd name="T9" fmla="*/ 26 h 58"/>
                    <a:gd name="T10" fmla="*/ 20 w 39"/>
                    <a:gd name="T11" fmla="*/ 52 h 58"/>
                    <a:gd name="T12" fmla="*/ 9 w 39"/>
                    <a:gd name="T13" fmla="*/ 57 h 58"/>
                    <a:gd name="T14" fmla="*/ 1 w 39"/>
                    <a:gd name="T15" fmla="*/ 43 h 58"/>
                    <a:gd name="T16" fmla="*/ 4 w 39"/>
                    <a:gd name="T17" fmla="*/ 6 h 58"/>
                    <a:gd name="T18" fmla="*/ 8 w 39"/>
                    <a:gd name="T19" fmla="*/ 0 h 58"/>
                    <a:gd name="T20" fmla="*/ 15 w 39"/>
                    <a:gd name="T21" fmla="*/ 6 h 58"/>
                    <a:gd name="T22" fmla="*/ 14 w 39"/>
                    <a:gd name="T23" fmla="*/ 20 h 58"/>
                    <a:gd name="T24" fmla="*/ 14 w 39"/>
                    <a:gd name="T25" fmla="*/ 28 h 58"/>
                    <a:gd name="T26" fmla="*/ 16 w 39"/>
                    <a:gd name="T27" fmla="*/ 29 h 5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39" h="58">
                      <a:moveTo>
                        <a:pt x="16" y="29"/>
                      </a:moveTo>
                      <a:cubicBezTo>
                        <a:pt x="19" y="21"/>
                        <a:pt x="23" y="14"/>
                        <a:pt x="27" y="7"/>
                      </a:cubicBezTo>
                      <a:cubicBezTo>
                        <a:pt x="28" y="5"/>
                        <a:pt x="29" y="3"/>
                        <a:pt x="31" y="1"/>
                      </a:cubicBezTo>
                      <a:cubicBezTo>
                        <a:pt x="32" y="3"/>
                        <a:pt x="33" y="4"/>
                        <a:pt x="34" y="6"/>
                      </a:cubicBezTo>
                      <a:cubicBezTo>
                        <a:pt x="37" y="12"/>
                        <a:pt x="39" y="19"/>
                        <a:pt x="35" y="26"/>
                      </a:cubicBezTo>
                      <a:cubicBezTo>
                        <a:pt x="30" y="34"/>
                        <a:pt x="25" y="43"/>
                        <a:pt x="20" y="52"/>
                      </a:cubicBezTo>
                      <a:cubicBezTo>
                        <a:pt x="18" y="56"/>
                        <a:pt x="12" y="58"/>
                        <a:pt x="9" y="57"/>
                      </a:cubicBezTo>
                      <a:cubicBezTo>
                        <a:pt x="2" y="54"/>
                        <a:pt x="0" y="50"/>
                        <a:pt x="1" y="43"/>
                      </a:cubicBezTo>
                      <a:cubicBezTo>
                        <a:pt x="2" y="31"/>
                        <a:pt x="3" y="18"/>
                        <a:pt x="4" y="6"/>
                      </a:cubicBezTo>
                      <a:cubicBezTo>
                        <a:pt x="4" y="4"/>
                        <a:pt x="4" y="0"/>
                        <a:pt x="8" y="0"/>
                      </a:cubicBezTo>
                      <a:cubicBezTo>
                        <a:pt x="11" y="0"/>
                        <a:pt x="15" y="1"/>
                        <a:pt x="15" y="6"/>
                      </a:cubicBezTo>
                      <a:cubicBezTo>
                        <a:pt x="15" y="10"/>
                        <a:pt x="14" y="15"/>
                        <a:pt x="14" y="20"/>
                      </a:cubicBezTo>
                      <a:cubicBezTo>
                        <a:pt x="14" y="23"/>
                        <a:pt x="14" y="25"/>
                        <a:pt x="14" y="28"/>
                      </a:cubicBezTo>
                      <a:cubicBezTo>
                        <a:pt x="14" y="28"/>
                        <a:pt x="15" y="28"/>
                        <a:pt x="16" y="29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76" name="Freeform 16"/>
                <p:cNvSpPr/>
                <p:nvPr/>
              </p:nvSpPr>
              <p:spPr bwMode="auto">
                <a:xfrm>
                  <a:off x="3980111" y="3138488"/>
                  <a:ext cx="134938" cy="373063"/>
                </a:xfrm>
                <a:custGeom>
                  <a:avLst/>
                  <a:gdLst>
                    <a:gd name="T0" fmla="*/ 9 w 47"/>
                    <a:gd name="T1" fmla="*/ 73 h 88"/>
                    <a:gd name="T2" fmla="*/ 3 w 47"/>
                    <a:gd name="T3" fmla="*/ 67 h 88"/>
                    <a:gd name="T4" fmla="*/ 3 w 47"/>
                    <a:gd name="T5" fmla="*/ 57 h 88"/>
                    <a:gd name="T6" fmla="*/ 20 w 47"/>
                    <a:gd name="T7" fmla="*/ 38 h 88"/>
                    <a:gd name="T8" fmla="*/ 33 w 47"/>
                    <a:gd name="T9" fmla="*/ 20 h 88"/>
                    <a:gd name="T10" fmla="*/ 33 w 47"/>
                    <a:gd name="T11" fmla="*/ 4 h 88"/>
                    <a:gd name="T12" fmla="*/ 32 w 47"/>
                    <a:gd name="T13" fmla="*/ 1 h 88"/>
                    <a:gd name="T14" fmla="*/ 33 w 47"/>
                    <a:gd name="T15" fmla="*/ 0 h 88"/>
                    <a:gd name="T16" fmla="*/ 41 w 47"/>
                    <a:gd name="T17" fmla="*/ 6 h 88"/>
                    <a:gd name="T18" fmla="*/ 43 w 47"/>
                    <a:gd name="T19" fmla="*/ 26 h 88"/>
                    <a:gd name="T20" fmla="*/ 29 w 47"/>
                    <a:gd name="T21" fmla="*/ 48 h 88"/>
                    <a:gd name="T22" fmla="*/ 30 w 47"/>
                    <a:gd name="T23" fmla="*/ 52 h 88"/>
                    <a:gd name="T24" fmla="*/ 40 w 47"/>
                    <a:gd name="T25" fmla="*/ 73 h 88"/>
                    <a:gd name="T26" fmla="*/ 41 w 47"/>
                    <a:gd name="T27" fmla="*/ 84 h 88"/>
                    <a:gd name="T28" fmla="*/ 37 w 47"/>
                    <a:gd name="T29" fmla="*/ 86 h 88"/>
                    <a:gd name="T30" fmla="*/ 31 w 47"/>
                    <a:gd name="T31" fmla="*/ 75 h 88"/>
                    <a:gd name="T32" fmla="*/ 28 w 47"/>
                    <a:gd name="T33" fmla="*/ 60 h 88"/>
                    <a:gd name="T34" fmla="*/ 22 w 47"/>
                    <a:gd name="T35" fmla="*/ 59 h 88"/>
                    <a:gd name="T36" fmla="*/ 9 w 47"/>
                    <a:gd name="T37" fmla="*/ 73 h 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47" h="88">
                      <a:moveTo>
                        <a:pt x="9" y="73"/>
                      </a:moveTo>
                      <a:cubicBezTo>
                        <a:pt x="7" y="71"/>
                        <a:pt x="5" y="69"/>
                        <a:pt x="3" y="67"/>
                      </a:cubicBezTo>
                      <a:cubicBezTo>
                        <a:pt x="1" y="64"/>
                        <a:pt x="0" y="61"/>
                        <a:pt x="3" y="57"/>
                      </a:cubicBezTo>
                      <a:cubicBezTo>
                        <a:pt x="9" y="51"/>
                        <a:pt x="14" y="45"/>
                        <a:pt x="20" y="38"/>
                      </a:cubicBezTo>
                      <a:cubicBezTo>
                        <a:pt x="24" y="32"/>
                        <a:pt x="28" y="26"/>
                        <a:pt x="33" y="20"/>
                      </a:cubicBezTo>
                      <a:cubicBezTo>
                        <a:pt x="36" y="15"/>
                        <a:pt x="36" y="9"/>
                        <a:pt x="33" y="4"/>
                      </a:cubicBezTo>
                      <a:cubicBezTo>
                        <a:pt x="32" y="3"/>
                        <a:pt x="32" y="2"/>
                        <a:pt x="32" y="1"/>
                      </a:cubicBezTo>
                      <a:cubicBezTo>
                        <a:pt x="32" y="1"/>
                        <a:pt x="33" y="0"/>
                        <a:pt x="33" y="0"/>
                      </a:cubicBezTo>
                      <a:cubicBezTo>
                        <a:pt x="36" y="2"/>
                        <a:pt x="39" y="4"/>
                        <a:pt x="41" y="6"/>
                      </a:cubicBezTo>
                      <a:cubicBezTo>
                        <a:pt x="46" y="11"/>
                        <a:pt x="47" y="20"/>
                        <a:pt x="43" y="26"/>
                      </a:cubicBezTo>
                      <a:cubicBezTo>
                        <a:pt x="39" y="33"/>
                        <a:pt x="34" y="40"/>
                        <a:pt x="29" y="48"/>
                      </a:cubicBezTo>
                      <a:cubicBezTo>
                        <a:pt x="29" y="49"/>
                        <a:pt x="29" y="52"/>
                        <a:pt x="30" y="52"/>
                      </a:cubicBezTo>
                      <a:cubicBezTo>
                        <a:pt x="38" y="57"/>
                        <a:pt x="38" y="65"/>
                        <a:pt x="40" y="73"/>
                      </a:cubicBezTo>
                      <a:cubicBezTo>
                        <a:pt x="41" y="76"/>
                        <a:pt x="41" y="80"/>
                        <a:pt x="41" y="84"/>
                      </a:cubicBezTo>
                      <a:cubicBezTo>
                        <a:pt x="41" y="87"/>
                        <a:pt x="39" y="88"/>
                        <a:pt x="37" y="86"/>
                      </a:cubicBezTo>
                      <a:cubicBezTo>
                        <a:pt x="33" y="83"/>
                        <a:pt x="31" y="81"/>
                        <a:pt x="31" y="75"/>
                      </a:cubicBezTo>
                      <a:cubicBezTo>
                        <a:pt x="31" y="70"/>
                        <a:pt x="30" y="65"/>
                        <a:pt x="28" y="60"/>
                      </a:cubicBezTo>
                      <a:cubicBezTo>
                        <a:pt x="27" y="55"/>
                        <a:pt x="25" y="56"/>
                        <a:pt x="22" y="59"/>
                      </a:cubicBezTo>
                      <a:cubicBezTo>
                        <a:pt x="18" y="64"/>
                        <a:pt x="14" y="68"/>
                        <a:pt x="9" y="73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77" name="Freeform 17"/>
                <p:cNvSpPr/>
                <p:nvPr/>
              </p:nvSpPr>
              <p:spPr bwMode="auto">
                <a:xfrm>
                  <a:off x="3872924" y="3138488"/>
                  <a:ext cx="75438" cy="79375"/>
                </a:xfrm>
                <a:custGeom>
                  <a:avLst/>
                  <a:gdLst>
                    <a:gd name="T0" fmla="*/ 0 w 26"/>
                    <a:gd name="T1" fmla="*/ 0 h 19"/>
                    <a:gd name="T2" fmla="*/ 20 w 26"/>
                    <a:gd name="T3" fmla="*/ 1 h 19"/>
                    <a:gd name="T4" fmla="*/ 23 w 26"/>
                    <a:gd name="T5" fmla="*/ 12 h 19"/>
                    <a:gd name="T6" fmla="*/ 12 w 26"/>
                    <a:gd name="T7" fmla="*/ 18 h 19"/>
                    <a:gd name="T8" fmla="*/ 3 w 26"/>
                    <a:gd name="T9" fmla="*/ 11 h 19"/>
                    <a:gd name="T10" fmla="*/ 0 w 26"/>
                    <a:gd name="T11" fmla="*/ 0 h 19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26" h="19">
                      <a:moveTo>
                        <a:pt x="0" y="0"/>
                      </a:moveTo>
                      <a:cubicBezTo>
                        <a:pt x="8" y="1"/>
                        <a:pt x="14" y="1"/>
                        <a:pt x="20" y="1"/>
                      </a:cubicBezTo>
                      <a:cubicBezTo>
                        <a:pt x="24" y="1"/>
                        <a:pt x="26" y="8"/>
                        <a:pt x="23" y="12"/>
                      </a:cubicBezTo>
                      <a:cubicBezTo>
                        <a:pt x="21" y="16"/>
                        <a:pt x="17" y="19"/>
                        <a:pt x="12" y="18"/>
                      </a:cubicBezTo>
                      <a:cubicBezTo>
                        <a:pt x="8" y="18"/>
                        <a:pt x="5" y="15"/>
                        <a:pt x="3" y="11"/>
                      </a:cubicBezTo>
                      <a:cubicBezTo>
                        <a:pt x="2" y="8"/>
                        <a:pt x="1" y="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58" name="组合 57"/>
            <p:cNvGrpSpPr/>
            <p:nvPr/>
          </p:nvGrpSpPr>
          <p:grpSpPr>
            <a:xfrm>
              <a:off x="598941" y="6399999"/>
              <a:ext cx="1102619" cy="276499"/>
              <a:chOff x="6738929" y="2270918"/>
              <a:chExt cx="2766486" cy="693738"/>
            </a:xfrm>
            <a:grpFill/>
          </p:grpSpPr>
          <p:grpSp>
            <p:nvGrpSpPr>
              <p:cNvPr id="59" name="组合 58"/>
              <p:cNvGrpSpPr/>
              <p:nvPr/>
            </p:nvGrpSpPr>
            <p:grpSpPr>
              <a:xfrm>
                <a:off x="8180494" y="2355056"/>
                <a:ext cx="484188" cy="509588"/>
                <a:chOff x="6113463" y="3541713"/>
                <a:chExt cx="484188" cy="509588"/>
              </a:xfrm>
              <a:grpFill/>
            </p:grpSpPr>
            <p:sp>
              <p:nvSpPr>
                <p:cNvPr id="69" name="Freeform 9"/>
                <p:cNvSpPr>
                  <a:spLocks noEditPoints="1"/>
                </p:cNvSpPr>
                <p:nvPr/>
              </p:nvSpPr>
              <p:spPr bwMode="auto">
                <a:xfrm>
                  <a:off x="6113463" y="3579813"/>
                  <a:ext cx="252413" cy="428625"/>
                </a:xfrm>
                <a:custGeom>
                  <a:avLst/>
                  <a:gdLst>
                    <a:gd name="T0" fmla="*/ 39 w 59"/>
                    <a:gd name="T1" fmla="*/ 78 h 101"/>
                    <a:gd name="T2" fmla="*/ 17 w 59"/>
                    <a:gd name="T3" fmla="*/ 94 h 101"/>
                    <a:gd name="T4" fmla="*/ 8 w 59"/>
                    <a:gd name="T5" fmla="*/ 94 h 101"/>
                    <a:gd name="T6" fmla="*/ 0 w 59"/>
                    <a:gd name="T7" fmla="*/ 79 h 101"/>
                    <a:gd name="T8" fmla="*/ 17 w 59"/>
                    <a:gd name="T9" fmla="*/ 73 h 101"/>
                    <a:gd name="T10" fmla="*/ 10 w 59"/>
                    <a:gd name="T11" fmla="*/ 68 h 101"/>
                    <a:gd name="T12" fmla="*/ 8 w 59"/>
                    <a:gd name="T13" fmla="*/ 60 h 101"/>
                    <a:gd name="T14" fmla="*/ 18 w 59"/>
                    <a:gd name="T15" fmla="*/ 23 h 101"/>
                    <a:gd name="T16" fmla="*/ 26 w 59"/>
                    <a:gd name="T17" fmla="*/ 17 h 101"/>
                    <a:gd name="T18" fmla="*/ 36 w 59"/>
                    <a:gd name="T19" fmla="*/ 26 h 101"/>
                    <a:gd name="T20" fmla="*/ 36 w 59"/>
                    <a:gd name="T21" fmla="*/ 27 h 101"/>
                    <a:gd name="T22" fmla="*/ 43 w 59"/>
                    <a:gd name="T23" fmla="*/ 40 h 101"/>
                    <a:gd name="T24" fmla="*/ 42 w 59"/>
                    <a:gd name="T25" fmla="*/ 12 h 101"/>
                    <a:gd name="T26" fmla="*/ 21 w 59"/>
                    <a:gd name="T27" fmla="*/ 5 h 101"/>
                    <a:gd name="T28" fmla="*/ 44 w 59"/>
                    <a:gd name="T29" fmla="*/ 1 h 101"/>
                    <a:gd name="T30" fmla="*/ 57 w 59"/>
                    <a:gd name="T31" fmla="*/ 17 h 101"/>
                    <a:gd name="T32" fmla="*/ 56 w 59"/>
                    <a:gd name="T33" fmla="*/ 48 h 101"/>
                    <a:gd name="T34" fmla="*/ 57 w 59"/>
                    <a:gd name="T35" fmla="*/ 55 h 101"/>
                    <a:gd name="T36" fmla="*/ 55 w 59"/>
                    <a:gd name="T37" fmla="*/ 64 h 101"/>
                    <a:gd name="T38" fmla="*/ 54 w 59"/>
                    <a:gd name="T39" fmla="*/ 71 h 101"/>
                    <a:gd name="T40" fmla="*/ 52 w 59"/>
                    <a:gd name="T41" fmla="*/ 95 h 101"/>
                    <a:gd name="T42" fmla="*/ 49 w 59"/>
                    <a:gd name="T43" fmla="*/ 101 h 101"/>
                    <a:gd name="T44" fmla="*/ 43 w 59"/>
                    <a:gd name="T45" fmla="*/ 98 h 101"/>
                    <a:gd name="T46" fmla="*/ 38 w 59"/>
                    <a:gd name="T47" fmla="*/ 86 h 101"/>
                    <a:gd name="T48" fmla="*/ 39 w 59"/>
                    <a:gd name="T49" fmla="*/ 78 h 101"/>
                    <a:gd name="T50" fmla="*/ 42 w 59"/>
                    <a:gd name="T51" fmla="*/ 47 h 101"/>
                    <a:gd name="T52" fmla="*/ 32 w 59"/>
                    <a:gd name="T53" fmla="*/ 44 h 101"/>
                    <a:gd name="T54" fmla="*/ 29 w 59"/>
                    <a:gd name="T55" fmla="*/ 64 h 101"/>
                    <a:gd name="T56" fmla="*/ 42 w 59"/>
                    <a:gd name="T57" fmla="*/ 47 h 101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</a:cxnLst>
                  <a:rect l="0" t="0" r="r" b="b"/>
                  <a:pathLst>
                    <a:path w="59" h="101">
                      <a:moveTo>
                        <a:pt x="39" y="78"/>
                      </a:moveTo>
                      <a:cubicBezTo>
                        <a:pt x="31" y="84"/>
                        <a:pt x="24" y="89"/>
                        <a:pt x="17" y="94"/>
                      </a:cubicBezTo>
                      <a:cubicBezTo>
                        <a:pt x="14" y="97"/>
                        <a:pt x="11" y="96"/>
                        <a:pt x="8" y="94"/>
                      </a:cubicBezTo>
                      <a:cubicBezTo>
                        <a:pt x="4" y="90"/>
                        <a:pt x="0" y="86"/>
                        <a:pt x="0" y="79"/>
                      </a:cubicBezTo>
                      <a:cubicBezTo>
                        <a:pt x="6" y="82"/>
                        <a:pt x="12" y="80"/>
                        <a:pt x="17" y="73"/>
                      </a:cubicBezTo>
                      <a:cubicBezTo>
                        <a:pt x="15" y="72"/>
                        <a:pt x="13" y="70"/>
                        <a:pt x="10" y="68"/>
                      </a:cubicBezTo>
                      <a:cubicBezTo>
                        <a:pt x="7" y="66"/>
                        <a:pt x="7" y="63"/>
                        <a:pt x="8" y="60"/>
                      </a:cubicBezTo>
                      <a:cubicBezTo>
                        <a:pt x="11" y="48"/>
                        <a:pt x="15" y="36"/>
                        <a:pt x="18" y="23"/>
                      </a:cubicBezTo>
                      <a:cubicBezTo>
                        <a:pt x="19" y="20"/>
                        <a:pt x="20" y="16"/>
                        <a:pt x="26" y="17"/>
                      </a:cubicBezTo>
                      <a:cubicBezTo>
                        <a:pt x="32" y="18"/>
                        <a:pt x="36" y="21"/>
                        <a:pt x="36" y="26"/>
                      </a:cubicBezTo>
                      <a:cubicBezTo>
                        <a:pt x="36" y="26"/>
                        <a:pt x="36" y="27"/>
                        <a:pt x="36" y="27"/>
                      </a:cubicBezTo>
                      <a:cubicBezTo>
                        <a:pt x="35" y="33"/>
                        <a:pt x="38" y="37"/>
                        <a:pt x="43" y="40"/>
                      </a:cubicBezTo>
                      <a:cubicBezTo>
                        <a:pt x="43" y="31"/>
                        <a:pt x="42" y="22"/>
                        <a:pt x="42" y="12"/>
                      </a:cubicBezTo>
                      <a:cubicBezTo>
                        <a:pt x="30" y="16"/>
                        <a:pt x="20" y="12"/>
                        <a:pt x="21" y="5"/>
                      </a:cubicBezTo>
                      <a:cubicBezTo>
                        <a:pt x="29" y="3"/>
                        <a:pt x="36" y="1"/>
                        <a:pt x="44" y="1"/>
                      </a:cubicBezTo>
                      <a:cubicBezTo>
                        <a:pt x="54" y="0"/>
                        <a:pt x="59" y="8"/>
                        <a:pt x="57" y="17"/>
                      </a:cubicBezTo>
                      <a:cubicBezTo>
                        <a:pt x="56" y="27"/>
                        <a:pt x="56" y="38"/>
                        <a:pt x="56" y="48"/>
                      </a:cubicBezTo>
                      <a:cubicBezTo>
                        <a:pt x="56" y="50"/>
                        <a:pt x="57" y="52"/>
                        <a:pt x="57" y="55"/>
                      </a:cubicBezTo>
                      <a:cubicBezTo>
                        <a:pt x="57" y="58"/>
                        <a:pt x="56" y="61"/>
                        <a:pt x="55" y="64"/>
                      </a:cubicBezTo>
                      <a:cubicBezTo>
                        <a:pt x="55" y="66"/>
                        <a:pt x="54" y="68"/>
                        <a:pt x="54" y="71"/>
                      </a:cubicBezTo>
                      <a:cubicBezTo>
                        <a:pt x="53" y="79"/>
                        <a:pt x="53" y="87"/>
                        <a:pt x="52" y="95"/>
                      </a:cubicBezTo>
                      <a:cubicBezTo>
                        <a:pt x="52" y="97"/>
                        <a:pt x="51" y="100"/>
                        <a:pt x="49" y="101"/>
                      </a:cubicBezTo>
                      <a:cubicBezTo>
                        <a:pt x="47" y="101"/>
                        <a:pt x="44" y="100"/>
                        <a:pt x="43" y="98"/>
                      </a:cubicBezTo>
                      <a:cubicBezTo>
                        <a:pt x="39" y="95"/>
                        <a:pt x="36" y="92"/>
                        <a:pt x="38" y="86"/>
                      </a:cubicBezTo>
                      <a:cubicBezTo>
                        <a:pt x="39" y="84"/>
                        <a:pt x="39" y="81"/>
                        <a:pt x="39" y="78"/>
                      </a:cubicBezTo>
                      <a:close/>
                      <a:moveTo>
                        <a:pt x="42" y="47"/>
                      </a:moveTo>
                      <a:cubicBezTo>
                        <a:pt x="39" y="46"/>
                        <a:pt x="36" y="45"/>
                        <a:pt x="32" y="44"/>
                      </a:cubicBezTo>
                      <a:cubicBezTo>
                        <a:pt x="31" y="51"/>
                        <a:pt x="30" y="57"/>
                        <a:pt x="29" y="64"/>
                      </a:cubicBezTo>
                      <a:cubicBezTo>
                        <a:pt x="39" y="61"/>
                        <a:pt x="42" y="57"/>
                        <a:pt x="42" y="47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70" name="Freeform 10"/>
                <p:cNvSpPr>
                  <a:spLocks noEditPoints="1"/>
                </p:cNvSpPr>
                <p:nvPr/>
              </p:nvSpPr>
              <p:spPr bwMode="auto">
                <a:xfrm>
                  <a:off x="6361113" y="3541713"/>
                  <a:ext cx="236538" cy="509588"/>
                </a:xfrm>
                <a:custGeom>
                  <a:avLst/>
                  <a:gdLst>
                    <a:gd name="T0" fmla="*/ 11 w 55"/>
                    <a:gd name="T1" fmla="*/ 89 h 120"/>
                    <a:gd name="T2" fmla="*/ 10 w 55"/>
                    <a:gd name="T3" fmla="*/ 100 h 120"/>
                    <a:gd name="T4" fmla="*/ 6 w 55"/>
                    <a:gd name="T5" fmla="*/ 104 h 120"/>
                    <a:gd name="T6" fmla="*/ 1 w 55"/>
                    <a:gd name="T7" fmla="*/ 99 h 120"/>
                    <a:gd name="T8" fmla="*/ 3 w 55"/>
                    <a:gd name="T9" fmla="*/ 84 h 120"/>
                    <a:gd name="T10" fmla="*/ 14 w 55"/>
                    <a:gd name="T11" fmla="*/ 37 h 120"/>
                    <a:gd name="T12" fmla="*/ 22 w 55"/>
                    <a:gd name="T13" fmla="*/ 11 h 120"/>
                    <a:gd name="T14" fmla="*/ 26 w 55"/>
                    <a:gd name="T15" fmla="*/ 19 h 120"/>
                    <a:gd name="T16" fmla="*/ 20 w 55"/>
                    <a:gd name="T17" fmla="*/ 40 h 120"/>
                    <a:gd name="T18" fmla="*/ 27 w 55"/>
                    <a:gd name="T19" fmla="*/ 35 h 120"/>
                    <a:gd name="T20" fmla="*/ 35 w 55"/>
                    <a:gd name="T21" fmla="*/ 30 h 120"/>
                    <a:gd name="T22" fmla="*/ 33 w 55"/>
                    <a:gd name="T23" fmla="*/ 9 h 120"/>
                    <a:gd name="T24" fmla="*/ 28 w 55"/>
                    <a:gd name="T25" fmla="*/ 8 h 120"/>
                    <a:gd name="T26" fmla="*/ 19 w 55"/>
                    <a:gd name="T27" fmla="*/ 12 h 120"/>
                    <a:gd name="T28" fmla="*/ 12 w 55"/>
                    <a:gd name="T29" fmla="*/ 15 h 120"/>
                    <a:gd name="T30" fmla="*/ 9 w 55"/>
                    <a:gd name="T31" fmla="*/ 11 h 120"/>
                    <a:gd name="T32" fmla="*/ 11 w 55"/>
                    <a:gd name="T33" fmla="*/ 8 h 120"/>
                    <a:gd name="T34" fmla="*/ 31 w 55"/>
                    <a:gd name="T35" fmla="*/ 0 h 120"/>
                    <a:gd name="T36" fmla="*/ 45 w 55"/>
                    <a:gd name="T37" fmla="*/ 15 h 120"/>
                    <a:gd name="T38" fmla="*/ 44 w 55"/>
                    <a:gd name="T39" fmla="*/ 46 h 120"/>
                    <a:gd name="T40" fmla="*/ 48 w 55"/>
                    <a:gd name="T41" fmla="*/ 54 h 120"/>
                    <a:gd name="T42" fmla="*/ 48 w 55"/>
                    <a:gd name="T43" fmla="*/ 71 h 120"/>
                    <a:gd name="T44" fmla="*/ 44 w 55"/>
                    <a:gd name="T45" fmla="*/ 77 h 120"/>
                    <a:gd name="T46" fmla="*/ 44 w 55"/>
                    <a:gd name="T47" fmla="*/ 110 h 120"/>
                    <a:gd name="T48" fmla="*/ 44 w 55"/>
                    <a:gd name="T49" fmla="*/ 114 h 120"/>
                    <a:gd name="T50" fmla="*/ 41 w 55"/>
                    <a:gd name="T51" fmla="*/ 120 h 120"/>
                    <a:gd name="T52" fmla="*/ 32 w 55"/>
                    <a:gd name="T53" fmla="*/ 118 h 120"/>
                    <a:gd name="T54" fmla="*/ 13 w 55"/>
                    <a:gd name="T55" fmla="*/ 91 h 120"/>
                    <a:gd name="T56" fmla="*/ 12 w 55"/>
                    <a:gd name="T57" fmla="*/ 89 h 120"/>
                    <a:gd name="T58" fmla="*/ 11 w 55"/>
                    <a:gd name="T59" fmla="*/ 89 h 120"/>
                    <a:gd name="T60" fmla="*/ 24 w 55"/>
                    <a:gd name="T61" fmla="*/ 76 h 120"/>
                    <a:gd name="T62" fmla="*/ 23 w 55"/>
                    <a:gd name="T63" fmla="*/ 74 h 120"/>
                    <a:gd name="T64" fmla="*/ 27 w 55"/>
                    <a:gd name="T65" fmla="*/ 71 h 120"/>
                    <a:gd name="T66" fmla="*/ 33 w 55"/>
                    <a:gd name="T67" fmla="*/ 67 h 120"/>
                    <a:gd name="T68" fmla="*/ 32 w 55"/>
                    <a:gd name="T69" fmla="*/ 63 h 120"/>
                    <a:gd name="T70" fmla="*/ 22 w 55"/>
                    <a:gd name="T71" fmla="*/ 52 h 120"/>
                    <a:gd name="T72" fmla="*/ 18 w 55"/>
                    <a:gd name="T73" fmla="*/ 89 h 120"/>
                    <a:gd name="T74" fmla="*/ 33 w 55"/>
                    <a:gd name="T75" fmla="*/ 107 h 120"/>
                    <a:gd name="T76" fmla="*/ 35 w 55"/>
                    <a:gd name="T77" fmla="*/ 77 h 120"/>
                    <a:gd name="T78" fmla="*/ 31 w 55"/>
                    <a:gd name="T79" fmla="*/ 75 h 120"/>
                    <a:gd name="T80" fmla="*/ 24 w 55"/>
                    <a:gd name="T81" fmla="*/ 76 h 12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</a:cxnLst>
                  <a:rect l="0" t="0" r="r" b="b"/>
                  <a:pathLst>
                    <a:path w="55" h="120">
                      <a:moveTo>
                        <a:pt x="11" y="89"/>
                      </a:moveTo>
                      <a:cubicBezTo>
                        <a:pt x="10" y="93"/>
                        <a:pt x="10" y="96"/>
                        <a:pt x="10" y="100"/>
                      </a:cubicBezTo>
                      <a:cubicBezTo>
                        <a:pt x="9" y="102"/>
                        <a:pt x="9" y="104"/>
                        <a:pt x="6" y="104"/>
                      </a:cubicBezTo>
                      <a:cubicBezTo>
                        <a:pt x="3" y="104"/>
                        <a:pt x="0" y="103"/>
                        <a:pt x="1" y="99"/>
                      </a:cubicBezTo>
                      <a:cubicBezTo>
                        <a:pt x="2" y="94"/>
                        <a:pt x="2" y="89"/>
                        <a:pt x="3" y="84"/>
                      </a:cubicBezTo>
                      <a:cubicBezTo>
                        <a:pt x="7" y="68"/>
                        <a:pt x="10" y="53"/>
                        <a:pt x="14" y="37"/>
                      </a:cubicBezTo>
                      <a:cubicBezTo>
                        <a:pt x="16" y="29"/>
                        <a:pt x="19" y="20"/>
                        <a:pt x="22" y="11"/>
                      </a:cubicBezTo>
                      <a:cubicBezTo>
                        <a:pt x="26" y="13"/>
                        <a:pt x="27" y="15"/>
                        <a:pt x="26" y="19"/>
                      </a:cubicBezTo>
                      <a:cubicBezTo>
                        <a:pt x="24" y="25"/>
                        <a:pt x="22" y="32"/>
                        <a:pt x="20" y="40"/>
                      </a:cubicBezTo>
                      <a:cubicBezTo>
                        <a:pt x="23" y="37"/>
                        <a:pt x="25" y="36"/>
                        <a:pt x="27" y="35"/>
                      </a:cubicBezTo>
                      <a:cubicBezTo>
                        <a:pt x="30" y="33"/>
                        <a:pt x="34" y="32"/>
                        <a:pt x="35" y="30"/>
                      </a:cubicBezTo>
                      <a:cubicBezTo>
                        <a:pt x="36" y="23"/>
                        <a:pt x="37" y="16"/>
                        <a:pt x="33" y="9"/>
                      </a:cubicBezTo>
                      <a:cubicBezTo>
                        <a:pt x="33" y="8"/>
                        <a:pt x="30" y="7"/>
                        <a:pt x="28" y="8"/>
                      </a:cubicBezTo>
                      <a:cubicBezTo>
                        <a:pt x="25" y="9"/>
                        <a:pt x="22" y="11"/>
                        <a:pt x="19" y="12"/>
                      </a:cubicBezTo>
                      <a:cubicBezTo>
                        <a:pt x="17" y="13"/>
                        <a:pt x="15" y="15"/>
                        <a:pt x="12" y="15"/>
                      </a:cubicBezTo>
                      <a:cubicBezTo>
                        <a:pt x="11" y="15"/>
                        <a:pt x="9" y="13"/>
                        <a:pt x="9" y="11"/>
                      </a:cubicBezTo>
                      <a:cubicBezTo>
                        <a:pt x="8" y="11"/>
                        <a:pt x="10" y="9"/>
                        <a:pt x="11" y="8"/>
                      </a:cubicBezTo>
                      <a:cubicBezTo>
                        <a:pt x="17" y="4"/>
                        <a:pt x="23" y="0"/>
                        <a:pt x="31" y="0"/>
                      </a:cubicBezTo>
                      <a:cubicBezTo>
                        <a:pt x="41" y="1"/>
                        <a:pt x="46" y="5"/>
                        <a:pt x="45" y="15"/>
                      </a:cubicBezTo>
                      <a:cubicBezTo>
                        <a:pt x="45" y="25"/>
                        <a:pt x="45" y="36"/>
                        <a:pt x="44" y="46"/>
                      </a:cubicBezTo>
                      <a:cubicBezTo>
                        <a:pt x="44" y="50"/>
                        <a:pt x="45" y="52"/>
                        <a:pt x="48" y="54"/>
                      </a:cubicBezTo>
                      <a:cubicBezTo>
                        <a:pt x="55" y="60"/>
                        <a:pt x="55" y="66"/>
                        <a:pt x="48" y="71"/>
                      </a:cubicBezTo>
                      <a:cubicBezTo>
                        <a:pt x="45" y="72"/>
                        <a:pt x="44" y="74"/>
                        <a:pt x="44" y="77"/>
                      </a:cubicBezTo>
                      <a:cubicBezTo>
                        <a:pt x="45" y="88"/>
                        <a:pt x="44" y="99"/>
                        <a:pt x="44" y="110"/>
                      </a:cubicBezTo>
                      <a:cubicBezTo>
                        <a:pt x="44" y="112"/>
                        <a:pt x="45" y="113"/>
                        <a:pt x="44" y="114"/>
                      </a:cubicBezTo>
                      <a:cubicBezTo>
                        <a:pt x="43" y="116"/>
                        <a:pt x="42" y="120"/>
                        <a:pt x="41" y="120"/>
                      </a:cubicBezTo>
                      <a:cubicBezTo>
                        <a:pt x="38" y="120"/>
                        <a:pt x="34" y="120"/>
                        <a:pt x="32" y="118"/>
                      </a:cubicBezTo>
                      <a:cubicBezTo>
                        <a:pt x="25" y="109"/>
                        <a:pt x="19" y="100"/>
                        <a:pt x="13" y="91"/>
                      </a:cubicBezTo>
                      <a:cubicBezTo>
                        <a:pt x="12" y="90"/>
                        <a:pt x="12" y="90"/>
                        <a:pt x="12" y="89"/>
                      </a:cubicBezTo>
                      <a:cubicBezTo>
                        <a:pt x="11" y="89"/>
                        <a:pt x="11" y="89"/>
                        <a:pt x="11" y="89"/>
                      </a:cubicBezTo>
                      <a:close/>
                      <a:moveTo>
                        <a:pt x="24" y="76"/>
                      </a:moveTo>
                      <a:cubicBezTo>
                        <a:pt x="23" y="75"/>
                        <a:pt x="23" y="75"/>
                        <a:pt x="23" y="74"/>
                      </a:cubicBezTo>
                      <a:cubicBezTo>
                        <a:pt x="24" y="73"/>
                        <a:pt x="26" y="72"/>
                        <a:pt x="27" y="71"/>
                      </a:cubicBezTo>
                      <a:cubicBezTo>
                        <a:pt x="29" y="70"/>
                        <a:pt x="31" y="69"/>
                        <a:pt x="33" y="67"/>
                      </a:cubicBezTo>
                      <a:cubicBezTo>
                        <a:pt x="35" y="66"/>
                        <a:pt x="35" y="63"/>
                        <a:pt x="32" y="63"/>
                      </a:cubicBezTo>
                      <a:cubicBezTo>
                        <a:pt x="27" y="61"/>
                        <a:pt x="24" y="58"/>
                        <a:pt x="22" y="52"/>
                      </a:cubicBezTo>
                      <a:cubicBezTo>
                        <a:pt x="17" y="65"/>
                        <a:pt x="13" y="77"/>
                        <a:pt x="18" y="89"/>
                      </a:cubicBezTo>
                      <a:cubicBezTo>
                        <a:pt x="21" y="97"/>
                        <a:pt x="27" y="101"/>
                        <a:pt x="33" y="107"/>
                      </a:cubicBezTo>
                      <a:cubicBezTo>
                        <a:pt x="34" y="97"/>
                        <a:pt x="34" y="87"/>
                        <a:pt x="35" y="77"/>
                      </a:cubicBezTo>
                      <a:cubicBezTo>
                        <a:pt x="35" y="77"/>
                        <a:pt x="32" y="75"/>
                        <a:pt x="31" y="75"/>
                      </a:cubicBezTo>
                      <a:cubicBezTo>
                        <a:pt x="29" y="75"/>
                        <a:pt x="26" y="76"/>
                        <a:pt x="24" y="7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60" name="组合 59"/>
              <p:cNvGrpSpPr/>
              <p:nvPr/>
            </p:nvGrpSpPr>
            <p:grpSpPr>
              <a:xfrm>
                <a:off x="6738929" y="2270918"/>
                <a:ext cx="549275" cy="693738"/>
                <a:chOff x="6108700" y="2066926"/>
                <a:chExt cx="549275" cy="693738"/>
              </a:xfrm>
              <a:grpFill/>
            </p:grpSpPr>
            <p:sp>
              <p:nvSpPr>
                <p:cNvPr id="67" name="Freeform 13"/>
                <p:cNvSpPr>
                  <a:spLocks noEditPoints="1"/>
                </p:cNvSpPr>
                <p:nvPr/>
              </p:nvSpPr>
              <p:spPr bwMode="auto">
                <a:xfrm>
                  <a:off x="6108700" y="2066926"/>
                  <a:ext cx="549275" cy="655638"/>
                </a:xfrm>
                <a:custGeom>
                  <a:avLst/>
                  <a:gdLst>
                    <a:gd name="T0" fmla="*/ 54 w 128"/>
                    <a:gd name="T1" fmla="*/ 76 h 154"/>
                    <a:gd name="T2" fmla="*/ 66 w 128"/>
                    <a:gd name="T3" fmla="*/ 53 h 154"/>
                    <a:gd name="T4" fmla="*/ 49 w 128"/>
                    <a:gd name="T5" fmla="*/ 47 h 154"/>
                    <a:gd name="T6" fmla="*/ 64 w 128"/>
                    <a:gd name="T7" fmla="*/ 44 h 154"/>
                    <a:gd name="T8" fmla="*/ 83 w 128"/>
                    <a:gd name="T9" fmla="*/ 6 h 154"/>
                    <a:gd name="T10" fmla="*/ 91 w 128"/>
                    <a:gd name="T11" fmla="*/ 11 h 154"/>
                    <a:gd name="T12" fmla="*/ 96 w 128"/>
                    <a:gd name="T13" fmla="*/ 36 h 154"/>
                    <a:gd name="T14" fmla="*/ 106 w 128"/>
                    <a:gd name="T15" fmla="*/ 41 h 154"/>
                    <a:gd name="T16" fmla="*/ 82 w 128"/>
                    <a:gd name="T17" fmla="*/ 50 h 154"/>
                    <a:gd name="T18" fmla="*/ 71 w 128"/>
                    <a:gd name="T19" fmla="*/ 65 h 154"/>
                    <a:gd name="T20" fmla="*/ 110 w 128"/>
                    <a:gd name="T21" fmla="*/ 74 h 154"/>
                    <a:gd name="T22" fmla="*/ 101 w 128"/>
                    <a:gd name="T23" fmla="*/ 87 h 154"/>
                    <a:gd name="T24" fmla="*/ 111 w 128"/>
                    <a:gd name="T25" fmla="*/ 98 h 154"/>
                    <a:gd name="T26" fmla="*/ 92 w 128"/>
                    <a:gd name="T27" fmla="*/ 104 h 154"/>
                    <a:gd name="T28" fmla="*/ 86 w 128"/>
                    <a:gd name="T29" fmla="*/ 116 h 154"/>
                    <a:gd name="T30" fmla="*/ 124 w 128"/>
                    <a:gd name="T31" fmla="*/ 112 h 154"/>
                    <a:gd name="T32" fmla="*/ 120 w 128"/>
                    <a:gd name="T33" fmla="*/ 122 h 154"/>
                    <a:gd name="T34" fmla="*/ 111 w 128"/>
                    <a:gd name="T35" fmla="*/ 144 h 154"/>
                    <a:gd name="T36" fmla="*/ 105 w 128"/>
                    <a:gd name="T37" fmla="*/ 153 h 154"/>
                    <a:gd name="T38" fmla="*/ 55 w 128"/>
                    <a:gd name="T39" fmla="*/ 129 h 154"/>
                    <a:gd name="T40" fmla="*/ 53 w 128"/>
                    <a:gd name="T41" fmla="*/ 121 h 154"/>
                    <a:gd name="T42" fmla="*/ 61 w 128"/>
                    <a:gd name="T43" fmla="*/ 125 h 154"/>
                    <a:gd name="T44" fmla="*/ 94 w 128"/>
                    <a:gd name="T45" fmla="*/ 140 h 154"/>
                    <a:gd name="T46" fmla="*/ 85 w 128"/>
                    <a:gd name="T47" fmla="*/ 127 h 154"/>
                    <a:gd name="T48" fmla="*/ 71 w 128"/>
                    <a:gd name="T49" fmla="*/ 108 h 154"/>
                    <a:gd name="T50" fmla="*/ 52 w 128"/>
                    <a:gd name="T51" fmla="*/ 113 h 154"/>
                    <a:gd name="T52" fmla="*/ 38 w 128"/>
                    <a:gd name="T53" fmla="*/ 97 h 154"/>
                    <a:gd name="T54" fmla="*/ 51 w 128"/>
                    <a:gd name="T55" fmla="*/ 97 h 154"/>
                    <a:gd name="T56" fmla="*/ 34 w 128"/>
                    <a:gd name="T57" fmla="*/ 93 h 154"/>
                    <a:gd name="T58" fmla="*/ 35 w 128"/>
                    <a:gd name="T59" fmla="*/ 105 h 154"/>
                    <a:gd name="T60" fmla="*/ 26 w 128"/>
                    <a:gd name="T61" fmla="*/ 154 h 154"/>
                    <a:gd name="T62" fmla="*/ 20 w 128"/>
                    <a:gd name="T63" fmla="*/ 118 h 154"/>
                    <a:gd name="T64" fmla="*/ 0 w 128"/>
                    <a:gd name="T65" fmla="*/ 103 h 154"/>
                    <a:gd name="T66" fmla="*/ 19 w 128"/>
                    <a:gd name="T67" fmla="*/ 72 h 154"/>
                    <a:gd name="T68" fmla="*/ 25 w 128"/>
                    <a:gd name="T69" fmla="*/ 51 h 154"/>
                    <a:gd name="T70" fmla="*/ 39 w 128"/>
                    <a:gd name="T71" fmla="*/ 14 h 154"/>
                    <a:gd name="T72" fmla="*/ 51 w 128"/>
                    <a:gd name="T73" fmla="*/ 24 h 154"/>
                    <a:gd name="T74" fmla="*/ 39 w 128"/>
                    <a:gd name="T75" fmla="*/ 44 h 154"/>
                    <a:gd name="T76" fmla="*/ 48 w 128"/>
                    <a:gd name="T77" fmla="*/ 73 h 154"/>
                    <a:gd name="T78" fmla="*/ 81 w 128"/>
                    <a:gd name="T79" fmla="*/ 90 h 154"/>
                    <a:gd name="T80" fmla="*/ 92 w 128"/>
                    <a:gd name="T81" fmla="*/ 71 h 154"/>
                    <a:gd name="T82" fmla="*/ 81 w 128"/>
                    <a:gd name="T83" fmla="*/ 80 h 154"/>
                    <a:gd name="T84" fmla="*/ 76 w 128"/>
                    <a:gd name="T85" fmla="*/ 73 h 154"/>
                    <a:gd name="T86" fmla="*/ 67 w 128"/>
                    <a:gd name="T87" fmla="*/ 79 h 154"/>
                    <a:gd name="T88" fmla="*/ 76 w 128"/>
                    <a:gd name="T89" fmla="*/ 73 h 154"/>
                    <a:gd name="T90" fmla="*/ 56 w 128"/>
                    <a:gd name="T91" fmla="*/ 88 h 154"/>
                    <a:gd name="T92" fmla="*/ 63 w 128"/>
                    <a:gd name="T93" fmla="*/ 81 h 15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</a:cxnLst>
                  <a:rect l="0" t="0" r="r" b="b"/>
                  <a:pathLst>
                    <a:path w="128" h="154">
                      <a:moveTo>
                        <a:pt x="48" y="73"/>
                      </a:moveTo>
                      <a:cubicBezTo>
                        <a:pt x="50" y="74"/>
                        <a:pt x="52" y="75"/>
                        <a:pt x="54" y="76"/>
                      </a:cubicBezTo>
                      <a:cubicBezTo>
                        <a:pt x="57" y="74"/>
                        <a:pt x="60" y="72"/>
                        <a:pt x="63" y="70"/>
                      </a:cubicBezTo>
                      <a:cubicBezTo>
                        <a:pt x="58" y="63"/>
                        <a:pt x="65" y="59"/>
                        <a:pt x="66" y="53"/>
                      </a:cubicBezTo>
                      <a:cubicBezTo>
                        <a:pt x="63" y="53"/>
                        <a:pt x="59" y="53"/>
                        <a:pt x="56" y="52"/>
                      </a:cubicBezTo>
                      <a:cubicBezTo>
                        <a:pt x="54" y="51"/>
                        <a:pt x="51" y="49"/>
                        <a:pt x="49" y="47"/>
                      </a:cubicBezTo>
                      <a:cubicBezTo>
                        <a:pt x="49" y="46"/>
                        <a:pt x="50" y="46"/>
                        <a:pt x="50" y="46"/>
                      </a:cubicBezTo>
                      <a:cubicBezTo>
                        <a:pt x="55" y="45"/>
                        <a:pt x="59" y="45"/>
                        <a:pt x="64" y="44"/>
                      </a:cubicBezTo>
                      <a:cubicBezTo>
                        <a:pt x="68" y="44"/>
                        <a:pt x="70" y="42"/>
                        <a:pt x="71" y="38"/>
                      </a:cubicBezTo>
                      <a:cubicBezTo>
                        <a:pt x="75" y="27"/>
                        <a:pt x="79" y="16"/>
                        <a:pt x="83" y="6"/>
                      </a:cubicBezTo>
                      <a:cubicBezTo>
                        <a:pt x="84" y="3"/>
                        <a:pt x="84" y="0"/>
                        <a:pt x="88" y="2"/>
                      </a:cubicBezTo>
                      <a:cubicBezTo>
                        <a:pt x="92" y="4"/>
                        <a:pt x="94" y="9"/>
                        <a:pt x="91" y="11"/>
                      </a:cubicBezTo>
                      <a:cubicBezTo>
                        <a:pt x="83" y="19"/>
                        <a:pt x="83" y="30"/>
                        <a:pt x="80" y="41"/>
                      </a:cubicBezTo>
                      <a:cubicBezTo>
                        <a:pt x="85" y="39"/>
                        <a:pt x="91" y="37"/>
                        <a:pt x="96" y="36"/>
                      </a:cubicBezTo>
                      <a:cubicBezTo>
                        <a:pt x="98" y="35"/>
                        <a:pt x="101" y="35"/>
                        <a:pt x="102" y="36"/>
                      </a:cubicBezTo>
                      <a:cubicBezTo>
                        <a:pt x="104" y="37"/>
                        <a:pt x="106" y="39"/>
                        <a:pt x="106" y="41"/>
                      </a:cubicBezTo>
                      <a:cubicBezTo>
                        <a:pt x="106" y="42"/>
                        <a:pt x="105" y="44"/>
                        <a:pt x="103" y="44"/>
                      </a:cubicBezTo>
                      <a:cubicBezTo>
                        <a:pt x="96" y="46"/>
                        <a:pt x="89" y="48"/>
                        <a:pt x="82" y="50"/>
                      </a:cubicBezTo>
                      <a:cubicBezTo>
                        <a:pt x="78" y="50"/>
                        <a:pt x="77" y="51"/>
                        <a:pt x="76" y="54"/>
                      </a:cubicBezTo>
                      <a:cubicBezTo>
                        <a:pt x="74" y="58"/>
                        <a:pt x="73" y="61"/>
                        <a:pt x="71" y="65"/>
                      </a:cubicBezTo>
                      <a:cubicBezTo>
                        <a:pt x="82" y="63"/>
                        <a:pt x="92" y="62"/>
                        <a:pt x="102" y="66"/>
                      </a:cubicBezTo>
                      <a:cubicBezTo>
                        <a:pt x="106" y="67"/>
                        <a:pt x="110" y="69"/>
                        <a:pt x="110" y="74"/>
                      </a:cubicBezTo>
                      <a:cubicBezTo>
                        <a:pt x="111" y="79"/>
                        <a:pt x="109" y="83"/>
                        <a:pt x="104" y="85"/>
                      </a:cubicBezTo>
                      <a:cubicBezTo>
                        <a:pt x="103" y="85"/>
                        <a:pt x="102" y="86"/>
                        <a:pt x="101" y="87"/>
                      </a:cubicBezTo>
                      <a:cubicBezTo>
                        <a:pt x="103" y="88"/>
                        <a:pt x="105" y="88"/>
                        <a:pt x="106" y="89"/>
                      </a:cubicBezTo>
                      <a:cubicBezTo>
                        <a:pt x="110" y="91"/>
                        <a:pt x="112" y="94"/>
                        <a:pt x="111" y="98"/>
                      </a:cubicBezTo>
                      <a:cubicBezTo>
                        <a:pt x="110" y="102"/>
                        <a:pt x="107" y="103"/>
                        <a:pt x="104" y="103"/>
                      </a:cubicBezTo>
                      <a:cubicBezTo>
                        <a:pt x="100" y="103"/>
                        <a:pt x="96" y="104"/>
                        <a:pt x="92" y="104"/>
                      </a:cubicBezTo>
                      <a:cubicBezTo>
                        <a:pt x="86" y="105"/>
                        <a:pt x="81" y="111"/>
                        <a:pt x="82" y="117"/>
                      </a:cubicBezTo>
                      <a:cubicBezTo>
                        <a:pt x="83" y="117"/>
                        <a:pt x="85" y="117"/>
                        <a:pt x="86" y="116"/>
                      </a:cubicBezTo>
                      <a:cubicBezTo>
                        <a:pt x="95" y="111"/>
                        <a:pt x="104" y="109"/>
                        <a:pt x="114" y="109"/>
                      </a:cubicBezTo>
                      <a:cubicBezTo>
                        <a:pt x="118" y="110"/>
                        <a:pt x="121" y="111"/>
                        <a:pt x="124" y="112"/>
                      </a:cubicBezTo>
                      <a:cubicBezTo>
                        <a:pt x="128" y="114"/>
                        <a:pt x="128" y="117"/>
                        <a:pt x="126" y="120"/>
                      </a:cubicBezTo>
                      <a:cubicBezTo>
                        <a:pt x="125" y="123"/>
                        <a:pt x="122" y="123"/>
                        <a:pt x="120" y="122"/>
                      </a:cubicBezTo>
                      <a:cubicBezTo>
                        <a:pt x="111" y="118"/>
                        <a:pt x="104" y="120"/>
                        <a:pt x="97" y="123"/>
                      </a:cubicBezTo>
                      <a:cubicBezTo>
                        <a:pt x="101" y="130"/>
                        <a:pt x="106" y="137"/>
                        <a:pt x="111" y="144"/>
                      </a:cubicBezTo>
                      <a:cubicBezTo>
                        <a:pt x="112" y="146"/>
                        <a:pt x="112" y="150"/>
                        <a:pt x="111" y="152"/>
                      </a:cubicBezTo>
                      <a:cubicBezTo>
                        <a:pt x="111" y="153"/>
                        <a:pt x="107" y="153"/>
                        <a:pt x="105" y="153"/>
                      </a:cubicBezTo>
                      <a:cubicBezTo>
                        <a:pt x="91" y="150"/>
                        <a:pt x="77" y="146"/>
                        <a:pt x="66" y="138"/>
                      </a:cubicBezTo>
                      <a:cubicBezTo>
                        <a:pt x="62" y="135"/>
                        <a:pt x="59" y="132"/>
                        <a:pt x="55" y="129"/>
                      </a:cubicBezTo>
                      <a:cubicBezTo>
                        <a:pt x="54" y="128"/>
                        <a:pt x="53" y="127"/>
                        <a:pt x="53" y="126"/>
                      </a:cubicBezTo>
                      <a:cubicBezTo>
                        <a:pt x="53" y="124"/>
                        <a:pt x="53" y="122"/>
                        <a:pt x="53" y="121"/>
                      </a:cubicBezTo>
                      <a:cubicBezTo>
                        <a:pt x="55" y="121"/>
                        <a:pt x="57" y="121"/>
                        <a:pt x="58" y="121"/>
                      </a:cubicBezTo>
                      <a:cubicBezTo>
                        <a:pt x="59" y="122"/>
                        <a:pt x="60" y="123"/>
                        <a:pt x="61" y="125"/>
                      </a:cubicBezTo>
                      <a:cubicBezTo>
                        <a:pt x="70" y="134"/>
                        <a:pt x="80" y="139"/>
                        <a:pt x="92" y="140"/>
                      </a:cubicBezTo>
                      <a:cubicBezTo>
                        <a:pt x="93" y="140"/>
                        <a:pt x="93" y="140"/>
                        <a:pt x="94" y="140"/>
                      </a:cubicBezTo>
                      <a:cubicBezTo>
                        <a:pt x="92" y="136"/>
                        <a:pt x="90" y="132"/>
                        <a:pt x="88" y="128"/>
                      </a:cubicBezTo>
                      <a:cubicBezTo>
                        <a:pt x="88" y="128"/>
                        <a:pt x="86" y="127"/>
                        <a:pt x="85" y="127"/>
                      </a:cubicBezTo>
                      <a:cubicBezTo>
                        <a:pt x="71" y="126"/>
                        <a:pt x="70" y="124"/>
                        <a:pt x="71" y="111"/>
                      </a:cubicBezTo>
                      <a:cubicBezTo>
                        <a:pt x="71" y="110"/>
                        <a:pt x="71" y="109"/>
                        <a:pt x="71" y="108"/>
                      </a:cubicBezTo>
                      <a:cubicBezTo>
                        <a:pt x="68" y="109"/>
                        <a:pt x="65" y="109"/>
                        <a:pt x="62" y="110"/>
                      </a:cubicBezTo>
                      <a:cubicBezTo>
                        <a:pt x="59" y="111"/>
                        <a:pt x="55" y="112"/>
                        <a:pt x="52" y="113"/>
                      </a:cubicBezTo>
                      <a:cubicBezTo>
                        <a:pt x="48" y="114"/>
                        <a:pt x="44" y="115"/>
                        <a:pt x="41" y="111"/>
                      </a:cubicBezTo>
                      <a:cubicBezTo>
                        <a:pt x="37" y="107"/>
                        <a:pt x="37" y="102"/>
                        <a:pt x="38" y="97"/>
                      </a:cubicBezTo>
                      <a:cubicBezTo>
                        <a:pt x="38" y="96"/>
                        <a:pt x="40" y="96"/>
                        <a:pt x="42" y="96"/>
                      </a:cubicBezTo>
                      <a:cubicBezTo>
                        <a:pt x="45" y="96"/>
                        <a:pt x="48" y="96"/>
                        <a:pt x="51" y="97"/>
                      </a:cubicBezTo>
                      <a:cubicBezTo>
                        <a:pt x="48" y="90"/>
                        <a:pt x="46" y="84"/>
                        <a:pt x="43" y="78"/>
                      </a:cubicBezTo>
                      <a:cubicBezTo>
                        <a:pt x="40" y="83"/>
                        <a:pt x="37" y="88"/>
                        <a:pt x="34" y="93"/>
                      </a:cubicBezTo>
                      <a:cubicBezTo>
                        <a:pt x="33" y="94"/>
                        <a:pt x="33" y="96"/>
                        <a:pt x="34" y="98"/>
                      </a:cubicBezTo>
                      <a:cubicBezTo>
                        <a:pt x="34" y="100"/>
                        <a:pt x="35" y="103"/>
                        <a:pt x="35" y="105"/>
                      </a:cubicBezTo>
                      <a:cubicBezTo>
                        <a:pt x="32" y="121"/>
                        <a:pt x="29" y="136"/>
                        <a:pt x="27" y="151"/>
                      </a:cubicBezTo>
                      <a:cubicBezTo>
                        <a:pt x="26" y="152"/>
                        <a:pt x="26" y="153"/>
                        <a:pt x="26" y="154"/>
                      </a:cubicBezTo>
                      <a:cubicBezTo>
                        <a:pt x="17" y="153"/>
                        <a:pt x="14" y="149"/>
                        <a:pt x="15" y="141"/>
                      </a:cubicBezTo>
                      <a:cubicBezTo>
                        <a:pt x="17" y="134"/>
                        <a:pt x="18" y="126"/>
                        <a:pt x="20" y="118"/>
                      </a:cubicBezTo>
                      <a:cubicBezTo>
                        <a:pt x="15" y="123"/>
                        <a:pt x="12" y="122"/>
                        <a:pt x="7" y="118"/>
                      </a:cubicBezTo>
                      <a:cubicBezTo>
                        <a:pt x="3" y="114"/>
                        <a:pt x="0" y="109"/>
                        <a:pt x="0" y="103"/>
                      </a:cubicBezTo>
                      <a:cubicBezTo>
                        <a:pt x="0" y="102"/>
                        <a:pt x="1" y="101"/>
                        <a:pt x="1" y="100"/>
                      </a:cubicBezTo>
                      <a:cubicBezTo>
                        <a:pt x="7" y="91"/>
                        <a:pt x="14" y="82"/>
                        <a:pt x="19" y="72"/>
                      </a:cubicBezTo>
                      <a:cubicBezTo>
                        <a:pt x="22" y="67"/>
                        <a:pt x="24" y="61"/>
                        <a:pt x="26" y="55"/>
                      </a:cubicBezTo>
                      <a:cubicBezTo>
                        <a:pt x="27" y="54"/>
                        <a:pt x="25" y="53"/>
                        <a:pt x="25" y="51"/>
                      </a:cubicBezTo>
                      <a:cubicBezTo>
                        <a:pt x="18" y="43"/>
                        <a:pt x="18" y="39"/>
                        <a:pt x="23" y="30"/>
                      </a:cubicBezTo>
                      <a:cubicBezTo>
                        <a:pt x="27" y="23"/>
                        <a:pt x="32" y="17"/>
                        <a:pt x="39" y="14"/>
                      </a:cubicBezTo>
                      <a:cubicBezTo>
                        <a:pt x="45" y="11"/>
                        <a:pt x="50" y="12"/>
                        <a:pt x="53" y="16"/>
                      </a:cubicBezTo>
                      <a:cubicBezTo>
                        <a:pt x="56" y="20"/>
                        <a:pt x="56" y="22"/>
                        <a:pt x="51" y="24"/>
                      </a:cubicBezTo>
                      <a:cubicBezTo>
                        <a:pt x="44" y="26"/>
                        <a:pt x="41" y="31"/>
                        <a:pt x="37" y="36"/>
                      </a:cubicBezTo>
                      <a:cubicBezTo>
                        <a:pt x="36" y="39"/>
                        <a:pt x="36" y="42"/>
                        <a:pt x="39" y="44"/>
                      </a:cubicBezTo>
                      <a:cubicBezTo>
                        <a:pt x="41" y="45"/>
                        <a:pt x="42" y="47"/>
                        <a:pt x="43" y="48"/>
                      </a:cubicBezTo>
                      <a:cubicBezTo>
                        <a:pt x="52" y="58"/>
                        <a:pt x="54" y="62"/>
                        <a:pt x="48" y="73"/>
                      </a:cubicBezTo>
                      <a:close/>
                      <a:moveTo>
                        <a:pt x="79" y="89"/>
                      </a:moveTo>
                      <a:cubicBezTo>
                        <a:pt x="80" y="89"/>
                        <a:pt x="80" y="90"/>
                        <a:pt x="81" y="90"/>
                      </a:cubicBezTo>
                      <a:cubicBezTo>
                        <a:pt x="85" y="86"/>
                        <a:pt x="90" y="81"/>
                        <a:pt x="95" y="76"/>
                      </a:cubicBezTo>
                      <a:cubicBezTo>
                        <a:pt x="97" y="73"/>
                        <a:pt x="95" y="71"/>
                        <a:pt x="92" y="71"/>
                      </a:cubicBezTo>
                      <a:cubicBezTo>
                        <a:pt x="88" y="71"/>
                        <a:pt x="85" y="71"/>
                        <a:pt x="81" y="71"/>
                      </a:cubicBezTo>
                      <a:cubicBezTo>
                        <a:pt x="81" y="75"/>
                        <a:pt x="81" y="77"/>
                        <a:pt x="81" y="80"/>
                      </a:cubicBezTo>
                      <a:cubicBezTo>
                        <a:pt x="81" y="83"/>
                        <a:pt x="80" y="86"/>
                        <a:pt x="79" y="89"/>
                      </a:cubicBezTo>
                      <a:close/>
                      <a:moveTo>
                        <a:pt x="76" y="73"/>
                      </a:moveTo>
                      <a:cubicBezTo>
                        <a:pt x="73" y="74"/>
                        <a:pt x="71" y="75"/>
                        <a:pt x="69" y="77"/>
                      </a:cubicBezTo>
                      <a:cubicBezTo>
                        <a:pt x="68" y="77"/>
                        <a:pt x="67" y="78"/>
                        <a:pt x="67" y="79"/>
                      </a:cubicBezTo>
                      <a:cubicBezTo>
                        <a:pt x="67" y="84"/>
                        <a:pt x="68" y="88"/>
                        <a:pt x="68" y="92"/>
                      </a:cubicBezTo>
                      <a:cubicBezTo>
                        <a:pt x="74" y="91"/>
                        <a:pt x="77" y="83"/>
                        <a:pt x="76" y="73"/>
                      </a:cubicBezTo>
                      <a:close/>
                      <a:moveTo>
                        <a:pt x="63" y="81"/>
                      </a:moveTo>
                      <a:cubicBezTo>
                        <a:pt x="55" y="84"/>
                        <a:pt x="54" y="85"/>
                        <a:pt x="56" y="88"/>
                      </a:cubicBezTo>
                      <a:cubicBezTo>
                        <a:pt x="58" y="94"/>
                        <a:pt x="60" y="95"/>
                        <a:pt x="65" y="93"/>
                      </a:cubicBezTo>
                      <a:cubicBezTo>
                        <a:pt x="64" y="89"/>
                        <a:pt x="63" y="85"/>
                        <a:pt x="63" y="8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8" name="Freeform 14"/>
                <p:cNvSpPr/>
                <p:nvPr/>
              </p:nvSpPr>
              <p:spPr bwMode="auto">
                <a:xfrm>
                  <a:off x="6259513" y="2578101"/>
                  <a:ext cx="68263" cy="182563"/>
                </a:xfrm>
                <a:custGeom>
                  <a:avLst/>
                  <a:gdLst>
                    <a:gd name="T0" fmla="*/ 9 w 16"/>
                    <a:gd name="T1" fmla="*/ 0 h 43"/>
                    <a:gd name="T2" fmla="*/ 15 w 16"/>
                    <a:gd name="T3" fmla="*/ 11 h 43"/>
                    <a:gd name="T4" fmla="*/ 9 w 16"/>
                    <a:gd name="T5" fmla="*/ 43 h 43"/>
                    <a:gd name="T6" fmla="*/ 2 w 16"/>
                    <a:gd name="T7" fmla="*/ 39 h 43"/>
                    <a:gd name="T8" fmla="*/ 0 w 16"/>
                    <a:gd name="T9" fmla="*/ 35 h 43"/>
                    <a:gd name="T10" fmla="*/ 9 w 16"/>
                    <a:gd name="T11" fmla="*/ 0 h 43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16" h="43">
                      <a:moveTo>
                        <a:pt x="9" y="0"/>
                      </a:moveTo>
                      <a:cubicBezTo>
                        <a:pt x="15" y="3"/>
                        <a:pt x="16" y="6"/>
                        <a:pt x="15" y="11"/>
                      </a:cubicBezTo>
                      <a:cubicBezTo>
                        <a:pt x="12" y="21"/>
                        <a:pt x="11" y="32"/>
                        <a:pt x="9" y="43"/>
                      </a:cubicBezTo>
                      <a:cubicBezTo>
                        <a:pt x="6" y="41"/>
                        <a:pt x="4" y="40"/>
                        <a:pt x="2" y="39"/>
                      </a:cubicBezTo>
                      <a:cubicBezTo>
                        <a:pt x="1" y="38"/>
                        <a:pt x="0" y="37"/>
                        <a:pt x="0" y="35"/>
                      </a:cubicBezTo>
                      <a:cubicBezTo>
                        <a:pt x="3" y="24"/>
                        <a:pt x="6" y="12"/>
                        <a:pt x="9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61" name="组合 60"/>
              <p:cNvGrpSpPr/>
              <p:nvPr/>
            </p:nvGrpSpPr>
            <p:grpSpPr>
              <a:xfrm>
                <a:off x="7532962" y="2451100"/>
                <a:ext cx="368300" cy="317500"/>
                <a:chOff x="6186488" y="2930526"/>
                <a:chExt cx="368300" cy="317500"/>
              </a:xfrm>
              <a:grpFill/>
            </p:grpSpPr>
            <p:sp>
              <p:nvSpPr>
                <p:cNvPr id="64" name="Freeform 18"/>
                <p:cNvSpPr/>
                <p:nvPr/>
              </p:nvSpPr>
              <p:spPr bwMode="auto">
                <a:xfrm>
                  <a:off x="6310313" y="2930526"/>
                  <a:ext cx="244475" cy="317500"/>
                </a:xfrm>
                <a:custGeom>
                  <a:avLst/>
                  <a:gdLst>
                    <a:gd name="T0" fmla="*/ 49 w 57"/>
                    <a:gd name="T1" fmla="*/ 74 h 75"/>
                    <a:gd name="T2" fmla="*/ 40 w 57"/>
                    <a:gd name="T3" fmla="*/ 67 h 75"/>
                    <a:gd name="T4" fmla="*/ 33 w 57"/>
                    <a:gd name="T5" fmla="*/ 48 h 75"/>
                    <a:gd name="T6" fmla="*/ 27 w 57"/>
                    <a:gd name="T7" fmla="*/ 46 h 75"/>
                    <a:gd name="T8" fmla="*/ 11 w 57"/>
                    <a:gd name="T9" fmla="*/ 60 h 75"/>
                    <a:gd name="T10" fmla="*/ 5 w 57"/>
                    <a:gd name="T11" fmla="*/ 60 h 75"/>
                    <a:gd name="T12" fmla="*/ 6 w 57"/>
                    <a:gd name="T13" fmla="*/ 46 h 75"/>
                    <a:gd name="T14" fmla="*/ 27 w 57"/>
                    <a:gd name="T15" fmla="*/ 26 h 75"/>
                    <a:gd name="T16" fmla="*/ 40 w 57"/>
                    <a:gd name="T17" fmla="*/ 10 h 75"/>
                    <a:gd name="T18" fmla="*/ 41 w 57"/>
                    <a:gd name="T19" fmla="*/ 6 h 75"/>
                    <a:gd name="T20" fmla="*/ 45 w 57"/>
                    <a:gd name="T21" fmla="*/ 0 h 75"/>
                    <a:gd name="T22" fmla="*/ 53 w 57"/>
                    <a:gd name="T23" fmla="*/ 3 h 75"/>
                    <a:gd name="T24" fmla="*/ 53 w 57"/>
                    <a:gd name="T25" fmla="*/ 20 h 75"/>
                    <a:gd name="T26" fmla="*/ 37 w 57"/>
                    <a:gd name="T27" fmla="*/ 38 h 75"/>
                    <a:gd name="T28" fmla="*/ 49 w 57"/>
                    <a:gd name="T29" fmla="*/ 74 h 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57" h="75">
                      <a:moveTo>
                        <a:pt x="49" y="74"/>
                      </a:moveTo>
                      <a:cubicBezTo>
                        <a:pt x="43" y="75"/>
                        <a:pt x="41" y="72"/>
                        <a:pt x="40" y="67"/>
                      </a:cubicBezTo>
                      <a:cubicBezTo>
                        <a:pt x="38" y="61"/>
                        <a:pt x="35" y="54"/>
                        <a:pt x="33" y="48"/>
                      </a:cubicBezTo>
                      <a:cubicBezTo>
                        <a:pt x="32" y="45"/>
                        <a:pt x="30" y="44"/>
                        <a:pt x="27" y="46"/>
                      </a:cubicBezTo>
                      <a:cubicBezTo>
                        <a:pt x="22" y="51"/>
                        <a:pt x="16" y="55"/>
                        <a:pt x="11" y="60"/>
                      </a:cubicBezTo>
                      <a:cubicBezTo>
                        <a:pt x="8" y="63"/>
                        <a:pt x="7" y="62"/>
                        <a:pt x="5" y="60"/>
                      </a:cubicBezTo>
                      <a:cubicBezTo>
                        <a:pt x="0" y="54"/>
                        <a:pt x="0" y="51"/>
                        <a:pt x="6" y="46"/>
                      </a:cubicBezTo>
                      <a:cubicBezTo>
                        <a:pt x="13" y="39"/>
                        <a:pt x="20" y="33"/>
                        <a:pt x="27" y="26"/>
                      </a:cubicBezTo>
                      <a:cubicBezTo>
                        <a:pt x="32" y="21"/>
                        <a:pt x="36" y="15"/>
                        <a:pt x="40" y="10"/>
                      </a:cubicBezTo>
                      <a:cubicBezTo>
                        <a:pt x="40" y="9"/>
                        <a:pt x="41" y="7"/>
                        <a:pt x="41" y="6"/>
                      </a:cubicBezTo>
                      <a:cubicBezTo>
                        <a:pt x="40" y="3"/>
                        <a:pt x="42" y="0"/>
                        <a:pt x="45" y="0"/>
                      </a:cubicBezTo>
                      <a:cubicBezTo>
                        <a:pt x="48" y="0"/>
                        <a:pt x="51" y="1"/>
                        <a:pt x="53" y="3"/>
                      </a:cubicBezTo>
                      <a:cubicBezTo>
                        <a:pt x="57" y="6"/>
                        <a:pt x="57" y="16"/>
                        <a:pt x="53" y="20"/>
                      </a:cubicBezTo>
                      <a:cubicBezTo>
                        <a:pt x="48" y="26"/>
                        <a:pt x="42" y="32"/>
                        <a:pt x="37" y="38"/>
                      </a:cubicBezTo>
                      <a:cubicBezTo>
                        <a:pt x="44" y="49"/>
                        <a:pt x="49" y="61"/>
                        <a:pt x="49" y="74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5" name="Freeform 19"/>
                <p:cNvSpPr/>
                <p:nvPr/>
              </p:nvSpPr>
              <p:spPr bwMode="auto">
                <a:xfrm>
                  <a:off x="6186488" y="3009901"/>
                  <a:ext cx="123825" cy="234950"/>
                </a:xfrm>
                <a:custGeom>
                  <a:avLst/>
                  <a:gdLst>
                    <a:gd name="T0" fmla="*/ 12 w 29"/>
                    <a:gd name="T1" fmla="*/ 30 h 55"/>
                    <a:gd name="T2" fmla="*/ 20 w 29"/>
                    <a:gd name="T3" fmla="*/ 7 h 55"/>
                    <a:gd name="T4" fmla="*/ 25 w 29"/>
                    <a:gd name="T5" fmla="*/ 1 h 55"/>
                    <a:gd name="T6" fmla="*/ 26 w 29"/>
                    <a:gd name="T7" fmla="*/ 9 h 55"/>
                    <a:gd name="T8" fmla="*/ 16 w 29"/>
                    <a:gd name="T9" fmla="*/ 39 h 55"/>
                    <a:gd name="T10" fmla="*/ 13 w 29"/>
                    <a:gd name="T11" fmla="*/ 52 h 55"/>
                    <a:gd name="T12" fmla="*/ 7 w 29"/>
                    <a:gd name="T13" fmla="*/ 54 h 55"/>
                    <a:gd name="T14" fmla="*/ 2 w 29"/>
                    <a:gd name="T15" fmla="*/ 41 h 55"/>
                    <a:gd name="T16" fmla="*/ 3 w 29"/>
                    <a:gd name="T17" fmla="*/ 32 h 55"/>
                    <a:gd name="T18" fmla="*/ 2 w 29"/>
                    <a:gd name="T19" fmla="*/ 6 h 55"/>
                    <a:gd name="T20" fmla="*/ 6 w 29"/>
                    <a:gd name="T21" fmla="*/ 5 h 55"/>
                    <a:gd name="T22" fmla="*/ 10 w 29"/>
                    <a:gd name="T23" fmla="*/ 14 h 55"/>
                    <a:gd name="T24" fmla="*/ 11 w 29"/>
                    <a:gd name="T25" fmla="*/ 30 h 55"/>
                    <a:gd name="T26" fmla="*/ 12 w 29"/>
                    <a:gd name="T27" fmla="*/ 30 h 5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</a:cxnLst>
                  <a:rect l="0" t="0" r="r" b="b"/>
                  <a:pathLst>
                    <a:path w="29" h="55">
                      <a:moveTo>
                        <a:pt x="12" y="30"/>
                      </a:moveTo>
                      <a:cubicBezTo>
                        <a:pt x="15" y="23"/>
                        <a:pt x="17" y="15"/>
                        <a:pt x="20" y="7"/>
                      </a:cubicBezTo>
                      <a:cubicBezTo>
                        <a:pt x="21" y="5"/>
                        <a:pt x="21" y="0"/>
                        <a:pt x="25" y="1"/>
                      </a:cubicBezTo>
                      <a:cubicBezTo>
                        <a:pt x="29" y="2"/>
                        <a:pt x="27" y="6"/>
                        <a:pt x="26" y="9"/>
                      </a:cubicBezTo>
                      <a:cubicBezTo>
                        <a:pt x="23" y="19"/>
                        <a:pt x="19" y="29"/>
                        <a:pt x="16" y="39"/>
                      </a:cubicBezTo>
                      <a:cubicBezTo>
                        <a:pt x="15" y="43"/>
                        <a:pt x="14" y="48"/>
                        <a:pt x="13" y="52"/>
                      </a:cubicBezTo>
                      <a:cubicBezTo>
                        <a:pt x="12" y="55"/>
                        <a:pt x="10" y="55"/>
                        <a:pt x="7" y="54"/>
                      </a:cubicBezTo>
                      <a:cubicBezTo>
                        <a:pt x="1" y="50"/>
                        <a:pt x="0" y="49"/>
                        <a:pt x="2" y="41"/>
                      </a:cubicBezTo>
                      <a:cubicBezTo>
                        <a:pt x="3" y="38"/>
                        <a:pt x="3" y="35"/>
                        <a:pt x="3" y="32"/>
                      </a:cubicBezTo>
                      <a:cubicBezTo>
                        <a:pt x="3" y="23"/>
                        <a:pt x="2" y="15"/>
                        <a:pt x="2" y="6"/>
                      </a:cubicBezTo>
                      <a:cubicBezTo>
                        <a:pt x="2" y="3"/>
                        <a:pt x="5" y="3"/>
                        <a:pt x="6" y="5"/>
                      </a:cubicBezTo>
                      <a:cubicBezTo>
                        <a:pt x="8" y="7"/>
                        <a:pt x="10" y="11"/>
                        <a:pt x="10" y="14"/>
                      </a:cubicBezTo>
                      <a:cubicBezTo>
                        <a:pt x="11" y="19"/>
                        <a:pt x="11" y="25"/>
                        <a:pt x="11" y="30"/>
                      </a:cubicBezTo>
                      <a:cubicBezTo>
                        <a:pt x="11" y="30"/>
                        <a:pt x="12" y="30"/>
                        <a:pt x="12" y="3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  <p:sp>
              <p:nvSpPr>
                <p:cNvPr id="66" name="Freeform 20"/>
                <p:cNvSpPr/>
                <p:nvPr/>
              </p:nvSpPr>
              <p:spPr bwMode="auto">
                <a:xfrm>
                  <a:off x="6259513" y="2933701"/>
                  <a:ext cx="114300" cy="73025"/>
                </a:xfrm>
                <a:custGeom>
                  <a:avLst/>
                  <a:gdLst>
                    <a:gd name="T0" fmla="*/ 27 w 27"/>
                    <a:gd name="T1" fmla="*/ 1 h 17"/>
                    <a:gd name="T2" fmla="*/ 16 w 27"/>
                    <a:gd name="T3" fmla="*/ 14 h 17"/>
                    <a:gd name="T4" fmla="*/ 5 w 27"/>
                    <a:gd name="T5" fmla="*/ 13 h 17"/>
                    <a:gd name="T6" fmla="*/ 0 w 27"/>
                    <a:gd name="T7" fmla="*/ 4 h 17"/>
                    <a:gd name="T8" fmla="*/ 9 w 27"/>
                    <a:gd name="T9" fmla="*/ 2 h 17"/>
                    <a:gd name="T10" fmla="*/ 27 w 27"/>
                    <a:gd name="T11" fmla="*/ 0 h 17"/>
                    <a:gd name="T12" fmla="*/ 27 w 27"/>
                    <a:gd name="T13" fmla="*/ 1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27" h="17">
                      <a:moveTo>
                        <a:pt x="27" y="1"/>
                      </a:moveTo>
                      <a:cubicBezTo>
                        <a:pt x="24" y="6"/>
                        <a:pt x="20" y="10"/>
                        <a:pt x="16" y="14"/>
                      </a:cubicBezTo>
                      <a:cubicBezTo>
                        <a:pt x="14" y="17"/>
                        <a:pt x="8" y="16"/>
                        <a:pt x="5" y="13"/>
                      </a:cubicBezTo>
                      <a:cubicBezTo>
                        <a:pt x="3" y="10"/>
                        <a:pt x="1" y="7"/>
                        <a:pt x="0" y="4"/>
                      </a:cubicBezTo>
                      <a:cubicBezTo>
                        <a:pt x="3" y="3"/>
                        <a:pt x="6" y="2"/>
                        <a:pt x="9" y="2"/>
                      </a:cubicBezTo>
                      <a:cubicBezTo>
                        <a:pt x="15" y="1"/>
                        <a:pt x="21" y="1"/>
                        <a:pt x="27" y="0"/>
                      </a:cubicBezTo>
                      <a:cubicBezTo>
                        <a:pt x="27" y="1"/>
                        <a:pt x="27" y="1"/>
                        <a:pt x="27" y="1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/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sp>
            <p:nvSpPr>
              <p:cNvPr id="62" name="Freeform 11"/>
              <p:cNvSpPr>
                <a:spLocks noEditPoints="1"/>
              </p:cNvSpPr>
              <p:nvPr/>
            </p:nvSpPr>
            <p:spPr bwMode="auto">
              <a:xfrm>
                <a:off x="9065451" y="2270918"/>
                <a:ext cx="439964" cy="615950"/>
              </a:xfrm>
              <a:custGeom>
                <a:avLst/>
                <a:gdLst>
                  <a:gd name="T0" fmla="*/ 29 w 72"/>
                  <a:gd name="T1" fmla="*/ 49 h 102"/>
                  <a:gd name="T2" fmla="*/ 15 w 72"/>
                  <a:gd name="T3" fmla="*/ 43 h 102"/>
                  <a:gd name="T4" fmla="*/ 10 w 72"/>
                  <a:gd name="T5" fmla="*/ 21 h 102"/>
                  <a:gd name="T6" fmla="*/ 13 w 72"/>
                  <a:gd name="T7" fmla="*/ 15 h 102"/>
                  <a:gd name="T8" fmla="*/ 19 w 72"/>
                  <a:gd name="T9" fmla="*/ 18 h 102"/>
                  <a:gd name="T10" fmla="*/ 20 w 72"/>
                  <a:gd name="T11" fmla="*/ 26 h 102"/>
                  <a:gd name="T12" fmla="*/ 35 w 72"/>
                  <a:gd name="T13" fmla="*/ 22 h 102"/>
                  <a:gd name="T14" fmla="*/ 40 w 72"/>
                  <a:gd name="T15" fmla="*/ 16 h 102"/>
                  <a:gd name="T16" fmla="*/ 43 w 72"/>
                  <a:gd name="T17" fmla="*/ 14 h 102"/>
                  <a:gd name="T18" fmla="*/ 44 w 72"/>
                  <a:gd name="T19" fmla="*/ 19 h 102"/>
                  <a:gd name="T20" fmla="*/ 43 w 72"/>
                  <a:gd name="T21" fmla="*/ 28 h 102"/>
                  <a:gd name="T22" fmla="*/ 36 w 72"/>
                  <a:gd name="T23" fmla="*/ 40 h 102"/>
                  <a:gd name="T24" fmla="*/ 37 w 72"/>
                  <a:gd name="T25" fmla="*/ 42 h 102"/>
                  <a:gd name="T26" fmla="*/ 44 w 72"/>
                  <a:gd name="T27" fmla="*/ 38 h 102"/>
                  <a:gd name="T28" fmla="*/ 56 w 72"/>
                  <a:gd name="T29" fmla="*/ 20 h 102"/>
                  <a:gd name="T30" fmla="*/ 49 w 72"/>
                  <a:gd name="T31" fmla="*/ 9 h 102"/>
                  <a:gd name="T32" fmla="*/ 28 w 72"/>
                  <a:gd name="T33" fmla="*/ 14 h 102"/>
                  <a:gd name="T34" fmla="*/ 20 w 72"/>
                  <a:gd name="T35" fmla="*/ 13 h 102"/>
                  <a:gd name="T36" fmla="*/ 22 w 72"/>
                  <a:gd name="T37" fmla="*/ 6 h 102"/>
                  <a:gd name="T38" fmla="*/ 50 w 72"/>
                  <a:gd name="T39" fmla="*/ 1 h 102"/>
                  <a:gd name="T40" fmla="*/ 68 w 72"/>
                  <a:gd name="T41" fmla="*/ 12 h 102"/>
                  <a:gd name="T42" fmla="*/ 67 w 72"/>
                  <a:gd name="T43" fmla="*/ 24 h 102"/>
                  <a:gd name="T44" fmla="*/ 49 w 72"/>
                  <a:gd name="T45" fmla="*/ 48 h 102"/>
                  <a:gd name="T46" fmla="*/ 42 w 72"/>
                  <a:gd name="T47" fmla="*/ 49 h 102"/>
                  <a:gd name="T48" fmla="*/ 37 w 72"/>
                  <a:gd name="T49" fmla="*/ 47 h 102"/>
                  <a:gd name="T50" fmla="*/ 35 w 72"/>
                  <a:gd name="T51" fmla="*/ 52 h 102"/>
                  <a:gd name="T52" fmla="*/ 41 w 72"/>
                  <a:gd name="T53" fmla="*/ 58 h 102"/>
                  <a:gd name="T54" fmla="*/ 48 w 72"/>
                  <a:gd name="T55" fmla="*/ 57 h 102"/>
                  <a:gd name="T56" fmla="*/ 53 w 72"/>
                  <a:gd name="T57" fmla="*/ 59 h 102"/>
                  <a:gd name="T58" fmla="*/ 53 w 72"/>
                  <a:gd name="T59" fmla="*/ 66 h 102"/>
                  <a:gd name="T60" fmla="*/ 48 w 72"/>
                  <a:gd name="T61" fmla="*/ 70 h 102"/>
                  <a:gd name="T62" fmla="*/ 37 w 72"/>
                  <a:gd name="T63" fmla="*/ 81 h 102"/>
                  <a:gd name="T64" fmla="*/ 45 w 72"/>
                  <a:gd name="T65" fmla="*/ 81 h 102"/>
                  <a:gd name="T66" fmla="*/ 57 w 72"/>
                  <a:gd name="T67" fmla="*/ 89 h 102"/>
                  <a:gd name="T68" fmla="*/ 51 w 72"/>
                  <a:gd name="T69" fmla="*/ 98 h 102"/>
                  <a:gd name="T70" fmla="*/ 26 w 72"/>
                  <a:gd name="T71" fmla="*/ 101 h 102"/>
                  <a:gd name="T72" fmla="*/ 17 w 72"/>
                  <a:gd name="T73" fmla="*/ 96 h 102"/>
                  <a:gd name="T74" fmla="*/ 15 w 72"/>
                  <a:gd name="T75" fmla="*/ 94 h 102"/>
                  <a:gd name="T76" fmla="*/ 19 w 72"/>
                  <a:gd name="T77" fmla="*/ 77 h 102"/>
                  <a:gd name="T78" fmla="*/ 27 w 72"/>
                  <a:gd name="T79" fmla="*/ 70 h 102"/>
                  <a:gd name="T80" fmla="*/ 27 w 72"/>
                  <a:gd name="T81" fmla="*/ 69 h 102"/>
                  <a:gd name="T82" fmla="*/ 21 w 72"/>
                  <a:gd name="T83" fmla="*/ 71 h 102"/>
                  <a:gd name="T84" fmla="*/ 9 w 72"/>
                  <a:gd name="T85" fmla="*/ 76 h 102"/>
                  <a:gd name="T86" fmla="*/ 3 w 72"/>
                  <a:gd name="T87" fmla="*/ 75 h 102"/>
                  <a:gd name="T88" fmla="*/ 4 w 72"/>
                  <a:gd name="T89" fmla="*/ 69 h 102"/>
                  <a:gd name="T90" fmla="*/ 26 w 72"/>
                  <a:gd name="T91" fmla="*/ 60 h 102"/>
                  <a:gd name="T92" fmla="*/ 28 w 72"/>
                  <a:gd name="T93" fmla="*/ 57 h 102"/>
                  <a:gd name="T94" fmla="*/ 29 w 72"/>
                  <a:gd name="T95" fmla="*/ 49 h 102"/>
                  <a:gd name="T96" fmla="*/ 34 w 72"/>
                  <a:gd name="T97" fmla="*/ 29 h 102"/>
                  <a:gd name="T98" fmla="*/ 33 w 72"/>
                  <a:gd name="T99" fmla="*/ 28 h 102"/>
                  <a:gd name="T100" fmla="*/ 26 w 72"/>
                  <a:gd name="T101" fmla="*/ 32 h 102"/>
                  <a:gd name="T102" fmla="*/ 23 w 72"/>
                  <a:gd name="T103" fmla="*/ 36 h 102"/>
                  <a:gd name="T104" fmla="*/ 26 w 72"/>
                  <a:gd name="T105" fmla="*/ 42 h 102"/>
                  <a:gd name="T106" fmla="*/ 31 w 72"/>
                  <a:gd name="T107" fmla="*/ 40 h 102"/>
                  <a:gd name="T108" fmla="*/ 34 w 72"/>
                  <a:gd name="T109" fmla="*/ 29 h 1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</a:cxnLst>
                <a:rect l="0" t="0" r="r" b="b"/>
                <a:pathLst>
                  <a:path w="72" h="102">
                    <a:moveTo>
                      <a:pt x="29" y="49"/>
                    </a:moveTo>
                    <a:cubicBezTo>
                      <a:pt x="19" y="52"/>
                      <a:pt x="18" y="52"/>
                      <a:pt x="15" y="43"/>
                    </a:cubicBezTo>
                    <a:cubicBezTo>
                      <a:pt x="13" y="36"/>
                      <a:pt x="11" y="28"/>
                      <a:pt x="10" y="21"/>
                    </a:cubicBezTo>
                    <a:cubicBezTo>
                      <a:pt x="9" y="19"/>
                      <a:pt x="11" y="16"/>
                      <a:pt x="13" y="15"/>
                    </a:cubicBezTo>
                    <a:cubicBezTo>
                      <a:pt x="16" y="13"/>
                      <a:pt x="18" y="16"/>
                      <a:pt x="19" y="18"/>
                    </a:cubicBezTo>
                    <a:cubicBezTo>
                      <a:pt x="19" y="21"/>
                      <a:pt x="20" y="23"/>
                      <a:pt x="20" y="26"/>
                    </a:cubicBezTo>
                    <a:cubicBezTo>
                      <a:pt x="26" y="25"/>
                      <a:pt x="31" y="24"/>
                      <a:pt x="35" y="22"/>
                    </a:cubicBezTo>
                    <a:cubicBezTo>
                      <a:pt x="37" y="21"/>
                      <a:pt x="38" y="18"/>
                      <a:pt x="40" y="16"/>
                    </a:cubicBezTo>
                    <a:cubicBezTo>
                      <a:pt x="41" y="15"/>
                      <a:pt x="42" y="14"/>
                      <a:pt x="43" y="14"/>
                    </a:cubicBezTo>
                    <a:cubicBezTo>
                      <a:pt x="44" y="15"/>
                      <a:pt x="44" y="17"/>
                      <a:pt x="44" y="19"/>
                    </a:cubicBezTo>
                    <a:cubicBezTo>
                      <a:pt x="44" y="22"/>
                      <a:pt x="43" y="25"/>
                      <a:pt x="43" y="28"/>
                    </a:cubicBezTo>
                    <a:cubicBezTo>
                      <a:pt x="37" y="29"/>
                      <a:pt x="39" y="36"/>
                      <a:pt x="36" y="40"/>
                    </a:cubicBezTo>
                    <a:cubicBezTo>
                      <a:pt x="36" y="41"/>
                      <a:pt x="37" y="41"/>
                      <a:pt x="37" y="42"/>
                    </a:cubicBezTo>
                    <a:cubicBezTo>
                      <a:pt x="39" y="41"/>
                      <a:pt x="42" y="40"/>
                      <a:pt x="44" y="38"/>
                    </a:cubicBezTo>
                    <a:cubicBezTo>
                      <a:pt x="48" y="32"/>
                      <a:pt x="52" y="26"/>
                      <a:pt x="56" y="20"/>
                    </a:cubicBezTo>
                    <a:cubicBezTo>
                      <a:pt x="59" y="15"/>
                      <a:pt x="56" y="9"/>
                      <a:pt x="49" y="9"/>
                    </a:cubicBezTo>
                    <a:cubicBezTo>
                      <a:pt x="42" y="8"/>
                      <a:pt x="34" y="10"/>
                      <a:pt x="28" y="14"/>
                    </a:cubicBezTo>
                    <a:cubicBezTo>
                      <a:pt x="25" y="16"/>
                      <a:pt x="22" y="15"/>
                      <a:pt x="20" y="13"/>
                    </a:cubicBezTo>
                    <a:cubicBezTo>
                      <a:pt x="17" y="9"/>
                      <a:pt x="17" y="7"/>
                      <a:pt x="22" y="6"/>
                    </a:cubicBezTo>
                    <a:cubicBezTo>
                      <a:pt x="31" y="3"/>
                      <a:pt x="40" y="0"/>
                      <a:pt x="50" y="1"/>
                    </a:cubicBezTo>
                    <a:cubicBezTo>
                      <a:pt x="58" y="1"/>
                      <a:pt x="63" y="7"/>
                      <a:pt x="68" y="12"/>
                    </a:cubicBezTo>
                    <a:cubicBezTo>
                      <a:pt x="72" y="15"/>
                      <a:pt x="70" y="20"/>
                      <a:pt x="67" y="24"/>
                    </a:cubicBezTo>
                    <a:cubicBezTo>
                      <a:pt x="61" y="32"/>
                      <a:pt x="55" y="40"/>
                      <a:pt x="49" y="48"/>
                    </a:cubicBezTo>
                    <a:cubicBezTo>
                      <a:pt x="47" y="51"/>
                      <a:pt x="45" y="52"/>
                      <a:pt x="42" y="49"/>
                    </a:cubicBezTo>
                    <a:cubicBezTo>
                      <a:pt x="41" y="48"/>
                      <a:pt x="38" y="47"/>
                      <a:pt x="37" y="47"/>
                    </a:cubicBezTo>
                    <a:cubicBezTo>
                      <a:pt x="36" y="48"/>
                      <a:pt x="35" y="50"/>
                      <a:pt x="35" y="52"/>
                    </a:cubicBezTo>
                    <a:cubicBezTo>
                      <a:pt x="34" y="59"/>
                      <a:pt x="34" y="59"/>
                      <a:pt x="41" y="58"/>
                    </a:cubicBezTo>
                    <a:cubicBezTo>
                      <a:pt x="43" y="57"/>
                      <a:pt x="46" y="56"/>
                      <a:pt x="48" y="57"/>
                    </a:cubicBezTo>
                    <a:cubicBezTo>
                      <a:pt x="50" y="57"/>
                      <a:pt x="53" y="58"/>
                      <a:pt x="53" y="59"/>
                    </a:cubicBezTo>
                    <a:cubicBezTo>
                      <a:pt x="54" y="61"/>
                      <a:pt x="54" y="64"/>
                      <a:pt x="53" y="66"/>
                    </a:cubicBezTo>
                    <a:cubicBezTo>
                      <a:pt x="52" y="68"/>
                      <a:pt x="50" y="69"/>
                      <a:pt x="48" y="70"/>
                    </a:cubicBezTo>
                    <a:cubicBezTo>
                      <a:pt x="44" y="73"/>
                      <a:pt x="39" y="75"/>
                      <a:pt x="37" y="81"/>
                    </a:cubicBezTo>
                    <a:cubicBezTo>
                      <a:pt x="40" y="81"/>
                      <a:pt x="43" y="81"/>
                      <a:pt x="45" y="81"/>
                    </a:cubicBezTo>
                    <a:cubicBezTo>
                      <a:pt x="51" y="81"/>
                      <a:pt x="56" y="84"/>
                      <a:pt x="57" y="89"/>
                    </a:cubicBezTo>
                    <a:cubicBezTo>
                      <a:pt x="58" y="93"/>
                      <a:pt x="55" y="97"/>
                      <a:pt x="51" y="98"/>
                    </a:cubicBezTo>
                    <a:cubicBezTo>
                      <a:pt x="43" y="99"/>
                      <a:pt x="35" y="100"/>
                      <a:pt x="26" y="101"/>
                    </a:cubicBezTo>
                    <a:cubicBezTo>
                      <a:pt x="22" y="102"/>
                      <a:pt x="19" y="100"/>
                      <a:pt x="17" y="96"/>
                    </a:cubicBezTo>
                    <a:cubicBezTo>
                      <a:pt x="16" y="96"/>
                      <a:pt x="16" y="95"/>
                      <a:pt x="15" y="94"/>
                    </a:cubicBezTo>
                    <a:cubicBezTo>
                      <a:pt x="11" y="84"/>
                      <a:pt x="11" y="84"/>
                      <a:pt x="19" y="77"/>
                    </a:cubicBezTo>
                    <a:cubicBezTo>
                      <a:pt x="22" y="75"/>
                      <a:pt x="24" y="72"/>
                      <a:pt x="27" y="70"/>
                    </a:cubicBezTo>
                    <a:cubicBezTo>
                      <a:pt x="27" y="70"/>
                      <a:pt x="27" y="69"/>
                      <a:pt x="27" y="69"/>
                    </a:cubicBezTo>
                    <a:cubicBezTo>
                      <a:pt x="25" y="69"/>
                      <a:pt x="23" y="70"/>
                      <a:pt x="21" y="71"/>
                    </a:cubicBezTo>
                    <a:cubicBezTo>
                      <a:pt x="17" y="72"/>
                      <a:pt x="13" y="74"/>
                      <a:pt x="9" y="76"/>
                    </a:cubicBezTo>
                    <a:cubicBezTo>
                      <a:pt x="7" y="76"/>
                      <a:pt x="5" y="76"/>
                      <a:pt x="3" y="75"/>
                    </a:cubicBezTo>
                    <a:cubicBezTo>
                      <a:pt x="0" y="72"/>
                      <a:pt x="0" y="71"/>
                      <a:pt x="4" y="69"/>
                    </a:cubicBezTo>
                    <a:cubicBezTo>
                      <a:pt x="12" y="66"/>
                      <a:pt x="19" y="63"/>
                      <a:pt x="26" y="60"/>
                    </a:cubicBezTo>
                    <a:cubicBezTo>
                      <a:pt x="27" y="60"/>
                      <a:pt x="28" y="58"/>
                      <a:pt x="28" y="57"/>
                    </a:cubicBezTo>
                    <a:cubicBezTo>
                      <a:pt x="29" y="55"/>
                      <a:pt x="29" y="52"/>
                      <a:pt x="29" y="49"/>
                    </a:cubicBezTo>
                    <a:close/>
                    <a:moveTo>
                      <a:pt x="34" y="29"/>
                    </a:moveTo>
                    <a:cubicBezTo>
                      <a:pt x="34" y="29"/>
                      <a:pt x="34" y="29"/>
                      <a:pt x="33" y="28"/>
                    </a:cubicBezTo>
                    <a:cubicBezTo>
                      <a:pt x="31" y="29"/>
                      <a:pt x="28" y="30"/>
                      <a:pt x="26" y="32"/>
                    </a:cubicBezTo>
                    <a:cubicBezTo>
                      <a:pt x="24" y="32"/>
                      <a:pt x="22" y="34"/>
                      <a:pt x="23" y="36"/>
                    </a:cubicBezTo>
                    <a:cubicBezTo>
                      <a:pt x="23" y="38"/>
                      <a:pt x="25" y="40"/>
                      <a:pt x="26" y="42"/>
                    </a:cubicBezTo>
                    <a:cubicBezTo>
                      <a:pt x="27" y="42"/>
                      <a:pt x="30" y="41"/>
                      <a:pt x="31" y="40"/>
                    </a:cubicBezTo>
                    <a:cubicBezTo>
                      <a:pt x="32" y="37"/>
                      <a:pt x="33" y="33"/>
                      <a:pt x="34" y="29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63" name="Freeform 12"/>
              <p:cNvSpPr/>
              <p:nvPr/>
            </p:nvSpPr>
            <p:spPr bwMode="auto">
              <a:xfrm>
                <a:off x="8878184" y="2293480"/>
                <a:ext cx="236904" cy="593388"/>
              </a:xfrm>
              <a:custGeom>
                <a:avLst/>
                <a:gdLst>
                  <a:gd name="T0" fmla="*/ 30 w 39"/>
                  <a:gd name="T1" fmla="*/ 44 h 98"/>
                  <a:gd name="T2" fmla="*/ 36 w 39"/>
                  <a:gd name="T3" fmla="*/ 34 h 98"/>
                  <a:gd name="T4" fmla="*/ 37 w 39"/>
                  <a:gd name="T5" fmla="*/ 51 h 98"/>
                  <a:gd name="T6" fmla="*/ 25 w 39"/>
                  <a:gd name="T7" fmla="*/ 82 h 98"/>
                  <a:gd name="T8" fmla="*/ 21 w 39"/>
                  <a:gd name="T9" fmla="*/ 98 h 98"/>
                  <a:gd name="T10" fmla="*/ 13 w 39"/>
                  <a:gd name="T11" fmla="*/ 96 h 98"/>
                  <a:gd name="T12" fmla="*/ 5 w 39"/>
                  <a:gd name="T13" fmla="*/ 83 h 98"/>
                  <a:gd name="T14" fmla="*/ 11 w 39"/>
                  <a:gd name="T15" fmla="*/ 62 h 98"/>
                  <a:gd name="T16" fmla="*/ 9 w 39"/>
                  <a:gd name="T17" fmla="*/ 43 h 98"/>
                  <a:gd name="T18" fmla="*/ 12 w 39"/>
                  <a:gd name="T19" fmla="*/ 38 h 98"/>
                  <a:gd name="T20" fmla="*/ 18 w 39"/>
                  <a:gd name="T21" fmla="*/ 33 h 98"/>
                  <a:gd name="T22" fmla="*/ 23 w 39"/>
                  <a:gd name="T23" fmla="*/ 12 h 98"/>
                  <a:gd name="T24" fmla="*/ 11 w 39"/>
                  <a:gd name="T25" fmla="*/ 16 h 98"/>
                  <a:gd name="T26" fmla="*/ 2 w 39"/>
                  <a:gd name="T27" fmla="*/ 16 h 98"/>
                  <a:gd name="T28" fmla="*/ 0 w 39"/>
                  <a:gd name="T29" fmla="*/ 12 h 98"/>
                  <a:gd name="T30" fmla="*/ 3 w 39"/>
                  <a:gd name="T31" fmla="*/ 10 h 98"/>
                  <a:gd name="T32" fmla="*/ 16 w 39"/>
                  <a:gd name="T33" fmla="*/ 7 h 98"/>
                  <a:gd name="T34" fmla="*/ 26 w 39"/>
                  <a:gd name="T35" fmla="*/ 2 h 98"/>
                  <a:gd name="T36" fmla="*/ 32 w 39"/>
                  <a:gd name="T37" fmla="*/ 1 h 98"/>
                  <a:gd name="T38" fmla="*/ 35 w 39"/>
                  <a:gd name="T39" fmla="*/ 9 h 98"/>
                  <a:gd name="T40" fmla="*/ 34 w 39"/>
                  <a:gd name="T41" fmla="*/ 11 h 98"/>
                  <a:gd name="T42" fmla="*/ 27 w 39"/>
                  <a:gd name="T43" fmla="*/ 38 h 98"/>
                  <a:gd name="T44" fmla="*/ 28 w 39"/>
                  <a:gd name="T45" fmla="*/ 44 h 98"/>
                  <a:gd name="T46" fmla="*/ 30 w 39"/>
                  <a:gd name="T47" fmla="*/ 44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9" h="98">
                    <a:moveTo>
                      <a:pt x="30" y="44"/>
                    </a:moveTo>
                    <a:cubicBezTo>
                      <a:pt x="32" y="41"/>
                      <a:pt x="34" y="38"/>
                      <a:pt x="36" y="34"/>
                    </a:cubicBezTo>
                    <a:cubicBezTo>
                      <a:pt x="37" y="40"/>
                      <a:pt x="39" y="45"/>
                      <a:pt x="37" y="51"/>
                    </a:cubicBezTo>
                    <a:cubicBezTo>
                      <a:pt x="33" y="61"/>
                      <a:pt x="29" y="72"/>
                      <a:pt x="25" y="82"/>
                    </a:cubicBezTo>
                    <a:cubicBezTo>
                      <a:pt x="23" y="87"/>
                      <a:pt x="23" y="92"/>
                      <a:pt x="21" y="98"/>
                    </a:cubicBezTo>
                    <a:cubicBezTo>
                      <a:pt x="18" y="97"/>
                      <a:pt x="15" y="97"/>
                      <a:pt x="13" y="96"/>
                    </a:cubicBezTo>
                    <a:cubicBezTo>
                      <a:pt x="7" y="94"/>
                      <a:pt x="3" y="89"/>
                      <a:pt x="5" y="83"/>
                    </a:cubicBezTo>
                    <a:cubicBezTo>
                      <a:pt x="7" y="76"/>
                      <a:pt x="9" y="69"/>
                      <a:pt x="11" y="62"/>
                    </a:cubicBezTo>
                    <a:cubicBezTo>
                      <a:pt x="13" y="56"/>
                      <a:pt x="14" y="49"/>
                      <a:pt x="9" y="43"/>
                    </a:cubicBezTo>
                    <a:cubicBezTo>
                      <a:pt x="7" y="39"/>
                      <a:pt x="9" y="38"/>
                      <a:pt x="12" y="38"/>
                    </a:cubicBezTo>
                    <a:cubicBezTo>
                      <a:pt x="17" y="39"/>
                      <a:pt x="17" y="37"/>
                      <a:pt x="18" y="33"/>
                    </a:cubicBezTo>
                    <a:cubicBezTo>
                      <a:pt x="19" y="26"/>
                      <a:pt x="21" y="20"/>
                      <a:pt x="23" y="12"/>
                    </a:cubicBezTo>
                    <a:cubicBezTo>
                      <a:pt x="19" y="13"/>
                      <a:pt x="15" y="15"/>
                      <a:pt x="11" y="16"/>
                    </a:cubicBezTo>
                    <a:cubicBezTo>
                      <a:pt x="8" y="17"/>
                      <a:pt x="5" y="16"/>
                      <a:pt x="2" y="16"/>
                    </a:cubicBezTo>
                    <a:cubicBezTo>
                      <a:pt x="1" y="15"/>
                      <a:pt x="0" y="13"/>
                      <a:pt x="0" y="12"/>
                    </a:cubicBezTo>
                    <a:cubicBezTo>
                      <a:pt x="1" y="11"/>
                      <a:pt x="2" y="10"/>
                      <a:pt x="3" y="10"/>
                    </a:cubicBezTo>
                    <a:cubicBezTo>
                      <a:pt x="7" y="8"/>
                      <a:pt x="12" y="8"/>
                      <a:pt x="16" y="7"/>
                    </a:cubicBezTo>
                    <a:cubicBezTo>
                      <a:pt x="19" y="5"/>
                      <a:pt x="22" y="3"/>
                      <a:pt x="26" y="2"/>
                    </a:cubicBezTo>
                    <a:cubicBezTo>
                      <a:pt x="28" y="1"/>
                      <a:pt x="32" y="0"/>
                      <a:pt x="32" y="1"/>
                    </a:cubicBezTo>
                    <a:cubicBezTo>
                      <a:pt x="34" y="3"/>
                      <a:pt x="35" y="6"/>
                      <a:pt x="35" y="9"/>
                    </a:cubicBezTo>
                    <a:cubicBezTo>
                      <a:pt x="36" y="9"/>
                      <a:pt x="35" y="10"/>
                      <a:pt x="34" y="11"/>
                    </a:cubicBezTo>
                    <a:cubicBezTo>
                      <a:pt x="27" y="19"/>
                      <a:pt x="28" y="29"/>
                      <a:pt x="27" y="38"/>
                    </a:cubicBezTo>
                    <a:cubicBezTo>
                      <a:pt x="27" y="40"/>
                      <a:pt x="28" y="42"/>
                      <a:pt x="28" y="44"/>
                    </a:cubicBezTo>
                    <a:cubicBezTo>
                      <a:pt x="29" y="44"/>
                      <a:pt x="29" y="44"/>
                      <a:pt x="30" y="4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strips dir="ru"/>
  </p:transition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icourse163.org/" TargetMode="Externa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9"/>
          <p:cNvSpPr>
            <a:spLocks noChangeArrowheads="1"/>
          </p:cNvSpPr>
          <p:nvPr/>
        </p:nvSpPr>
        <p:spPr bwMode="auto">
          <a:xfrm>
            <a:off x="7535863" y="0"/>
            <a:ext cx="1958975" cy="52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66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bg1"/>
                </a:solidFill>
                <a:latin typeface="Consolas" panose="020B0609020204030204" pitchFamily="49" charset="0"/>
                <a:ea typeface="Arial Unicode MS" pitchFamily="34" charset="-122"/>
                <a:cs typeface="Consolas" panose="020B0609020204030204" pitchFamily="49" charset="0"/>
              </a:rPr>
              <a:t>Fall 2017</a:t>
            </a:r>
          </a:p>
        </p:txBody>
      </p:sp>
      <p:sp>
        <p:nvSpPr>
          <p:cNvPr id="3" name="矩形 2"/>
          <p:cNvSpPr/>
          <p:nvPr/>
        </p:nvSpPr>
        <p:spPr>
          <a:xfrm>
            <a:off x="1083815" y="2230685"/>
            <a:ext cx="8411469" cy="2540635"/>
          </a:xfrm>
          <a:prstGeom prst="rect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>
              <a:rot lat="0" lon="0" rev="0"/>
            </a:camera>
            <a:lightRig rig="contrasting" dir="t">
              <a:rot lat="0" lon="0" rev="4500000"/>
            </a:lightRig>
          </a:scene3d>
          <a:sp3d>
            <a:bevelT/>
          </a:sp3d>
        </p:spPr>
        <p:txBody>
          <a:bodyPr wrap="square">
            <a:spAutoFit/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algn="ctr" eaLnBrk="1" hangingPunct="1">
              <a:spcBef>
                <a:spcPct val="20000"/>
              </a:spcBef>
              <a:defRPr/>
            </a:pPr>
            <a:r>
              <a:rPr lang="en-US" altLang="zh-CN" sz="8000" u="sng" cap="all" spc="600" dirty="0">
                <a:ln w="0"/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C</a:t>
            </a:r>
            <a:r>
              <a:rPr lang="zh-CN" altLang="en-US" sz="8000" u="sng" cap="all" spc="600" dirty="0">
                <a:ln w="0"/>
                <a:solidFill>
                  <a:srgbClr val="000066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语言程序设计</a:t>
            </a:r>
            <a:endParaRPr lang="en-US" altLang="zh-CN" sz="8000" u="sng" cap="all" spc="600" dirty="0">
              <a:ln w="0"/>
              <a:solidFill>
                <a:srgbClr val="000066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  <a:p>
            <a:pPr algn="ctr" eaLnBrk="1" hangingPunct="1">
              <a:spcBef>
                <a:spcPct val="20000"/>
              </a:spcBef>
              <a:defRPr/>
            </a:pPr>
            <a:r>
              <a:rPr lang="en-US" altLang="zh-CN" sz="3600" cap="all" spc="600" dirty="0">
                <a:ln w="0"/>
                <a:solidFill>
                  <a:srgbClr val="000066"/>
                </a:solidFill>
                <a:latin typeface="Adobe Garamond Pro Bold" pitchFamily="18" charset="0"/>
                <a:ea typeface="微软雅黑" panose="020B0503020204020204" charset="-122"/>
                <a:cs typeface="Times New Roman" panose="02020603050405020304" pitchFamily="18" charset="0"/>
              </a:rPr>
              <a:t>The C programming language</a:t>
            </a:r>
          </a:p>
        </p:txBody>
      </p:sp>
    </p:spTree>
  </p:cSld>
  <p:clrMapOvr>
    <a:masterClrMapping/>
  </p:clrMapOvr>
  <p:transition>
    <p:strips dir="r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6" name="矩形 5"/>
          <p:cNvSpPr>
            <a:spLocks noChangeArrowheads="1"/>
          </p:cNvSpPr>
          <p:nvPr/>
        </p:nvSpPr>
        <p:spPr bwMode="auto">
          <a:xfrm>
            <a:off x="438150" y="1603375"/>
            <a:ext cx="8859838" cy="275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总学时数：</a:t>
            </a:r>
            <a:r>
              <a:rPr lang="en-US" altLang="zh-CN" sz="32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48</a:t>
            </a: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学时 </a:t>
            </a:r>
            <a:r>
              <a:rPr lang="en-US" altLang="zh-CN" sz="3200" dirty="0">
                <a:latin typeface="隶书" panose="02010509060101010101" pitchFamily="49" charset="-122"/>
                <a:ea typeface="隶书" panose="02010509060101010101" pitchFamily="49" charset="-122"/>
              </a:rPr>
              <a:t>3</a:t>
            </a: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学分</a:t>
            </a: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endParaRPr lang="en-US" altLang="zh-CN" sz="32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讲授：</a:t>
            </a:r>
            <a:r>
              <a:rPr lang="en-US" altLang="zh-CN" sz="32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32 </a:t>
            </a: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学时</a:t>
            </a:r>
            <a:endParaRPr lang="en-US" altLang="zh-CN" sz="32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marL="177800" lvl="1" indent="-177800" eaLnBrk="1" hangingPunct="1">
              <a:lnSpc>
                <a:spcPct val="120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实验教学</a:t>
            </a:r>
            <a:r>
              <a:rPr lang="en-US" altLang="zh-CN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 </a:t>
            </a:r>
            <a:r>
              <a:rPr lang="en-US" altLang="zh-CN" sz="32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16 </a:t>
            </a:r>
            <a:r>
              <a:rPr lang="zh-CN" altLang="en-US" sz="3200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学时</a:t>
            </a:r>
            <a:endParaRPr lang="en-US" altLang="zh-CN" sz="32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lvl="1" eaLnBrk="1" hangingPunct="1">
              <a:lnSpc>
                <a:spcPct val="120000"/>
              </a:lnSpc>
              <a:spcBef>
                <a:spcPct val="20000"/>
              </a:spcBef>
              <a:defRPr/>
            </a:pPr>
            <a:endParaRPr lang="zh-CN" altLang="en-US" sz="3200" dirty="0">
              <a:solidFill>
                <a:schemeClr val="tx1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197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A55D5968-9ED5-4E7F-8EF6-015D514023F9}" type="slidenum">
              <a:rPr lang="zh-CN" altLang="en-US" sz="1200">
                <a:latin typeface="Times New Roman" panose="02020603050405020304" pitchFamily="18" charset="0"/>
              </a:rPr>
              <a:t>2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教材</a:t>
            </a:r>
          </a:p>
        </p:txBody>
      </p:sp>
      <p:sp>
        <p:nvSpPr>
          <p:cNvPr id="922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1B8D5852-68D2-4046-B67F-9AE2F672AF40}" type="slidenum">
              <a:rPr lang="zh-CN" altLang="en-US" sz="1200">
                <a:latin typeface="Times New Roman" panose="02020603050405020304" pitchFamily="18" charset="0"/>
              </a:rPr>
              <a:t>3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306070" y="1807844"/>
            <a:ext cx="65627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CC0000"/>
              </a:buClr>
              <a:buSzPct val="75000"/>
              <a:buFont typeface="Wingdings" panose="05000000000000000000" pitchFamily="2" charset="2"/>
              <a:buChar char="&amp;"/>
              <a:defRPr/>
            </a:pP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C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语言程序设计教程 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第三版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FF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ea typeface="黑体" panose="02010609060101010101" pitchFamily="49" charset="-122"/>
              </a:rPr>
              <a:t>   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李凤霞；北京理工大学出版社，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2011</a:t>
            </a:r>
          </a:p>
          <a:p>
            <a:pPr marL="342900" indent="-69850" eaLnBrk="1" hangingPunct="1">
              <a:spcBef>
                <a:spcPct val="20000"/>
              </a:spcBef>
              <a:buClr>
                <a:srgbClr val="FFFF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Exercise book: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Char char="&amp;"/>
              <a:defRPr/>
            </a:pP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 C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语言程序设计教程习题与上机指导 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(</a:t>
            </a:r>
            <a:r>
              <a:rPr lang="zh-CN" altLang="en-US" sz="2800" dirty="0">
                <a:solidFill>
                  <a:srgbClr val="0000FF"/>
                </a:solidFill>
                <a:ea typeface="黑体" panose="02010609060101010101" pitchFamily="49" charset="-122"/>
              </a:rPr>
              <a:t>第四版</a:t>
            </a:r>
            <a:r>
              <a:rPr lang="en-US" altLang="zh-CN" sz="2800" dirty="0">
                <a:solidFill>
                  <a:srgbClr val="0000FF"/>
                </a:solidFill>
                <a:ea typeface="黑体" panose="02010609060101010101" pitchFamily="49" charset="-122"/>
              </a:rPr>
              <a:t>)</a:t>
            </a:r>
          </a:p>
          <a:p>
            <a:pPr marL="342900" indent="-342900" eaLnBrk="1" hangingPunct="1">
              <a:spcBef>
                <a:spcPct val="20000"/>
              </a:spcBef>
              <a:buClr>
                <a:srgbClr val="FF0000"/>
              </a:buClr>
              <a:buSzPct val="75000"/>
              <a:buFont typeface="Wingdings" panose="05000000000000000000" pitchFamily="2" charset="2"/>
              <a:buNone/>
              <a:defRPr/>
            </a:pPr>
            <a:r>
              <a:rPr lang="en-US" altLang="zh-CN" sz="2800" dirty="0">
                <a:latin typeface="黑体" panose="02010609060101010101" pitchFamily="49" charset="-122"/>
                <a:ea typeface="黑体" panose="02010609060101010101" pitchFamily="49" charset="-122"/>
              </a:rPr>
              <a:t>  </a:t>
            </a:r>
            <a:r>
              <a:rPr lang="zh-CN" altLang="en-US" sz="2800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王树武；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</a:rPr>
              <a:t>北京理工大学出版社，</a:t>
            </a:r>
            <a:r>
              <a:rPr lang="en-US" altLang="zh-CN" sz="2800" dirty="0">
                <a:solidFill>
                  <a:schemeClr val="tx1"/>
                </a:solidFill>
                <a:ea typeface="黑体" panose="02010609060101010101" pitchFamily="49" charset="-122"/>
              </a:rPr>
              <a:t>2009</a:t>
            </a:r>
            <a:endParaRPr lang="en-US" altLang="zh-CN" sz="2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9223" name="Picture 10" descr="C:\Users\sanyuan\Downloads\8934d7688b9f67f0be5a079cb722108b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7675" y="1022350"/>
            <a:ext cx="2308225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038" y="3352800"/>
            <a:ext cx="1787525" cy="2235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10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参考资料</a:t>
            </a:r>
          </a:p>
        </p:txBody>
      </p:sp>
      <p:sp>
        <p:nvSpPr>
          <p:cNvPr id="922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1B8D5852-68D2-4046-B67F-9AE2F672AF40}" type="slidenum">
              <a:rPr lang="zh-CN" altLang="en-US" sz="1200">
                <a:latin typeface="Times New Roman" panose="02020603050405020304" pitchFamily="18" charset="0"/>
              </a:rPr>
              <a:t>4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234950" y="1138238"/>
            <a:ext cx="6562725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rgbClr val="CC0000"/>
              </a:buClr>
              <a:buSzPct val="75000"/>
              <a:buFont typeface="Wingdings" panose="05000000000000000000" pitchFamily="2" charset="2"/>
              <a:buChar char="&amp;"/>
              <a:defRPr/>
            </a:pPr>
            <a:endParaRPr lang="en-US" altLang="zh-CN" sz="2800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pic>
        <p:nvPicPr>
          <p:cNvPr id="624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027" y="1238251"/>
            <a:ext cx="4762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内容占位符 2"/>
          <p:cNvSpPr>
            <a:spLocks noGrp="1"/>
          </p:cNvSpPr>
          <p:nvPr>
            <p:ph idx="1"/>
          </p:nvPr>
        </p:nvSpPr>
        <p:spPr>
          <a:xfrm>
            <a:off x="495300" y="1493838"/>
            <a:ext cx="8915400" cy="4525962"/>
          </a:xfrm>
        </p:spPr>
        <p:txBody>
          <a:bodyPr/>
          <a:lstStyle/>
          <a:p>
            <a:pPr>
              <a:lnSpc>
                <a:spcPct val="90000"/>
              </a:lnSpc>
              <a:buClr>
                <a:schemeClr val="hlink"/>
              </a:buClr>
              <a:buSzPct val="75000"/>
              <a:buFontTx/>
              <a:buNone/>
            </a:pPr>
            <a:r>
              <a:rPr lang="en-US" altLang="zh-CN" b="1">
                <a:solidFill>
                  <a:schemeClr val="hlink"/>
                </a:solidFill>
              </a:rPr>
              <a:t>               </a:t>
            </a:r>
            <a:endParaRPr lang="zh-CN" altLang="en-US"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267" name="Rectangle 5"/>
          <p:cNvSpPr>
            <a:spLocks noGrp="1" noChangeArrowheads="1"/>
          </p:cNvSpPr>
          <p:nvPr>
            <p:ph type="title"/>
          </p:nvPr>
        </p:nvSpPr>
        <p:spPr>
          <a:xfrm>
            <a:off x="474663" y="806450"/>
            <a:ext cx="8915400" cy="646113"/>
          </a:xfrm>
        </p:spPr>
        <p:txBody>
          <a:bodyPr>
            <a:spAutoFit/>
          </a:bodyPr>
          <a:lstStyle/>
          <a:p>
            <a:pPr algn="l"/>
            <a:r>
              <a:rPr lang="en-US" altLang="zh-CN" sz="3600">
                <a:solidFill>
                  <a:srgbClr val="0000FF"/>
                </a:solidFill>
              </a:rPr>
              <a:t> </a:t>
            </a:r>
            <a:r>
              <a:rPr lang="zh-CN" altLang="en-US" sz="360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</a:rPr>
              <a:t>课程安排</a:t>
            </a:r>
            <a:endParaRPr lang="en-US" altLang="zh-CN" sz="3600">
              <a:solidFill>
                <a:srgbClr val="C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Group 270"/>
          <p:cNvGraphicFramePr/>
          <p:nvPr>
            <p:extLst>
              <p:ext uri="{D42A27DB-BD31-4B8C-83A1-F6EECF244321}">
                <p14:modId xmlns:p14="http://schemas.microsoft.com/office/powerpoint/2010/main" val="1635095412"/>
              </p:ext>
            </p:extLst>
          </p:nvPr>
        </p:nvGraphicFramePr>
        <p:xfrm>
          <a:off x="495300" y="889000"/>
          <a:ext cx="9170120" cy="5202842"/>
        </p:xfrm>
        <a:graphic>
          <a:graphicData uri="http://schemas.openxmlformats.org/drawingml/2006/table">
            <a:tbl>
              <a:tblPr/>
              <a:tblGrid>
                <a:gridCol w="6178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26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0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6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47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7C80"/>
                        </a:solidFill>
                        <a:effectLst>
                          <a:outerShdw blurRad="38100" dist="38100" dir="2700000" algn="tl">
                            <a:srgbClr val="FFFFFF"/>
                          </a:outerShdw>
                        </a:effectLst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Content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Lecture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Lab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绪言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(1,2)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数据类型，运算符，表达式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(3)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流程控制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(4,5,6)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数组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(7)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函数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(8)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指针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 (9)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8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结构、联合与枚举类型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(10)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3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链表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4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8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文件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132298"/>
                  </a:ext>
                </a:extLst>
              </a:tr>
              <a:tr h="49897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10199"/>
                            </a:outerShdw>
                          </a:effectLst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复习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宋体" panose="02010600030101010101" pitchFamily="2" charset="-122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491065"/>
                  </a:ext>
                </a:extLst>
              </a:tr>
              <a:tr h="411892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  <a:cs typeface="+mn-cs"/>
                        </a:rPr>
                        <a:t>Total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32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75000"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anose="020B0604020202020204" pitchFamily="34" charset="0"/>
                          <a:ea typeface="宋体" panose="02010600030101010101" pitchFamily="2" charset="-122"/>
                        </a:rPr>
                        <a:t>16</a:t>
                      </a:r>
                    </a:p>
                  </a:txBody>
                  <a:tcPr horzOverflow="overflow">
                    <a:lnL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rgbClr val="99FF33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" name="矩形 6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 b="0" dirty="0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132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DCD3EA91-4747-41C4-9FC9-BBD7588510FF}" type="slidenum">
              <a:rPr lang="zh-CN" altLang="en-US" sz="1200">
                <a:latin typeface="Times New Roman" panose="02020603050405020304" pitchFamily="18" charset="0"/>
              </a:rPr>
              <a:t>5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229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AD3B7D93-FB53-41B3-8C0D-AD798A19BB7F}" type="slidenum">
              <a:rPr lang="zh-CN" altLang="en-US" sz="1200">
                <a:latin typeface="Times New Roman" panose="02020603050405020304" pitchFamily="18" charset="0"/>
              </a:rPr>
              <a:t>6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12293" name="矩形 3"/>
          <p:cNvSpPr>
            <a:spLocks noChangeArrowheads="1"/>
          </p:cNvSpPr>
          <p:nvPr/>
        </p:nvSpPr>
        <p:spPr bwMode="auto">
          <a:xfrm>
            <a:off x="237421" y="806450"/>
            <a:ext cx="9001125" cy="47698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总成绩  </a:t>
            </a:r>
            <a:r>
              <a:rPr lang="en-US" altLang="zh-CN" sz="2400" dirty="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100%</a:t>
            </a:r>
            <a:r>
              <a:rPr lang="zh-CN" altLang="en-US" sz="2400" dirty="0">
                <a:solidFill>
                  <a:srgbClr val="C00000"/>
                </a:solidFill>
                <a:latin typeface="Times New Roman" panose="02020603050405020304" pitchFamily="18" charset="0"/>
                <a:ea typeface="隶书" panose="02010509060101010101" pitchFamily="49" charset="-122"/>
                <a:cs typeface="Times New Roman" panose="02020603050405020304" pitchFamily="18" charset="0"/>
              </a:rPr>
              <a:t>：</a:t>
            </a:r>
            <a:endParaRPr lang="en-US" altLang="zh-CN" sz="2400" dirty="0">
              <a:solidFill>
                <a:srgbClr val="C00000"/>
              </a:solidFill>
              <a:latin typeface="Times New Roman" panose="02020603050405020304" pitchFamily="18" charset="0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1.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期末</a:t>
            </a:r>
            <a:r>
              <a:rPr lang="zh-CN" altLang="en-US" sz="2400" u="sng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上机考试 </a:t>
            </a:r>
            <a:r>
              <a:rPr lang="en-US" altLang="zh-CN" sz="24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6</a:t>
            </a:r>
            <a:r>
              <a:rPr lang="en-US" altLang="en-US" sz="24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0% </a:t>
            </a:r>
            <a:r>
              <a:rPr lang="zh-CN" altLang="en-US" sz="2400" dirty="0">
                <a:solidFill>
                  <a:srgbClr val="003399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（选择、程序填空、编程）</a:t>
            </a:r>
            <a:endParaRPr lang="en-US" altLang="zh-CN" sz="2400" dirty="0">
              <a:solidFill>
                <a:srgbClr val="003399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2.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平时成绩 </a:t>
            </a:r>
            <a:r>
              <a:rPr lang="en-US" altLang="zh-CN" sz="24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40% </a:t>
            </a:r>
            <a:r>
              <a:rPr lang="zh-CN" altLang="en-US" sz="2400" dirty="0">
                <a:solidFill>
                  <a:srgbClr val="003399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包含：</a:t>
            </a:r>
            <a:endParaRPr lang="en-US" altLang="zh-CN" sz="2400" dirty="0">
              <a:solidFill>
                <a:srgbClr val="003399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     （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）乐学 </a:t>
            </a: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FF0066"/>
                </a:solidFill>
                <a:effectLst/>
                <a:uLnTx/>
                <a:uFillTx/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20%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     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2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SPOC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（中国大学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MOOC</a:t>
            </a:r>
            <a:r>
              <a:rPr lang="zh-CN" altLang="en-US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平台）</a:t>
            </a:r>
            <a:r>
              <a:rPr lang="en-US" altLang="zh-CN" sz="2400" dirty="0"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10%</a:t>
            </a:r>
            <a:r>
              <a:rPr lang="zh-CN" altLang="en-US" sz="240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（做对一半即可）</a:t>
            </a:r>
            <a:endParaRPr lang="en-US" altLang="zh-CN" sz="2400" dirty="0">
              <a:solidFill>
                <a:srgbClr val="FF0066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	2026</a:t>
            </a:r>
            <a:r>
              <a:rPr lang="zh-CN" altLang="en-US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年春季</a:t>
            </a:r>
            <a:r>
              <a:rPr lang="en-US" altLang="zh-CN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语言程序设计（上）开课老师：赵三元</a:t>
            </a:r>
            <a:endParaRPr lang="en-US" altLang="zh-CN" sz="2400" b="0" dirty="0">
              <a:solidFill>
                <a:srgbClr val="FF0066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lvl="2" eaLnBrk="1" hangingPunct="1">
              <a:lnSpc>
                <a:spcPct val="120000"/>
              </a:lnSpc>
              <a:buNone/>
            </a:pP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开课时间： 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2026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03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 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~ 2026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年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06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月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30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日</a:t>
            </a:r>
          </a:p>
          <a:p>
            <a:pPr lvl="2">
              <a:buNone/>
            </a:pP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学时安排： </a:t>
            </a:r>
            <a:r>
              <a:rPr lang="en-US" altLang="zh-CN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3-5</a:t>
            </a:r>
            <a:r>
              <a:rPr lang="zh-CN" altLang="en-US" sz="2000" b="0" i="0" dirty="0">
                <a:solidFill>
                  <a:srgbClr val="666666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</a:rPr>
              <a:t>小时每周</a:t>
            </a:r>
            <a:endParaRPr lang="en-US" altLang="zh-CN" sz="2000" b="0" i="0" dirty="0">
              <a:solidFill>
                <a:srgbClr val="666666"/>
              </a:solidFill>
              <a:effectLst/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lvl="2">
              <a:buNone/>
            </a:pPr>
            <a:r>
              <a:rPr lang="zh-CN" altLang="en-US" sz="2000" b="0" dirty="0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选课密码：</a:t>
            </a:r>
            <a:r>
              <a:rPr lang="en-US" altLang="zh-CN" sz="2000" b="0" dirty="0" err="1">
                <a:solidFill>
                  <a:srgbClr val="66666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cyuyan</a:t>
            </a:r>
            <a:endParaRPr lang="en-US" altLang="zh-CN" sz="2400" b="0" dirty="0">
              <a:solidFill>
                <a:srgbClr val="FF0066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	2026</a:t>
            </a:r>
            <a:r>
              <a:rPr lang="zh-CN" altLang="en-US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年春季</a:t>
            </a:r>
            <a:r>
              <a:rPr lang="en-US" altLang="zh-CN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C</a:t>
            </a:r>
            <a:r>
              <a:rPr lang="zh-CN" altLang="en-US" sz="2400" b="0" dirty="0">
                <a:solidFill>
                  <a:srgbClr val="FF0066"/>
                </a:solidFill>
                <a:latin typeface="隶书" panose="02010509060101010101" pitchFamily="49" charset="-122"/>
                <a:ea typeface="隶书" panose="02010509060101010101" pitchFamily="49" charset="-122"/>
                <a:cs typeface="Times New Roman" panose="02020603050405020304" pitchFamily="18" charset="0"/>
              </a:rPr>
              <a:t>语言程序设计（下）开课老师：赵三元</a:t>
            </a:r>
            <a:endParaRPr lang="en-US" altLang="zh-CN" sz="2400" dirty="0">
              <a:solidFill>
                <a:srgbClr val="FF0066"/>
              </a:solidFill>
              <a:latin typeface="隶书" panose="02010509060101010101" pitchFamily="49" charset="-122"/>
              <a:ea typeface="隶书" panose="020105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022851" y="838281"/>
            <a:ext cx="27832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简单算法、图形，链表，递归，字符串</a:t>
            </a:r>
          </a:p>
        </p:txBody>
      </p:sp>
    </p:spTree>
  </p:cSld>
  <p:clrMapOvr>
    <a:masterClrMapping/>
  </p:clrMapOvr>
  <p:transition>
    <p:strips dir="r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EE020869-3BB2-6BFF-F57D-CA2C64DB0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b="1" kern="1200" dirty="0">
                <a:ea typeface="隶书" panose="02010509060101010101" pitchFamily="49" charset="-122"/>
                <a:cs typeface="Times New Roman" panose="02020603050405020304" pitchFamily="18" charset="0"/>
              </a:rPr>
              <a:t> （</a:t>
            </a:r>
            <a:r>
              <a:rPr lang="en-US" altLang="zh-CN" sz="2400" b="1" kern="1200" dirty="0">
                <a:ea typeface="隶书" panose="02010509060101010101" pitchFamily="49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 kern="1200" dirty="0">
                <a:ea typeface="隶书" panose="02010509060101010101" pitchFamily="49" charset="-122"/>
                <a:cs typeface="Times New Roman" panose="02020603050405020304" pitchFamily="18" charset="0"/>
              </a:rPr>
              <a:t>）</a:t>
            </a:r>
            <a:r>
              <a:rPr lang="zh-CN" altLang="en-US" sz="2400" b="1" dirty="0">
                <a:ea typeface="隶书" panose="02010509060101010101" pitchFamily="49" charset="-122"/>
                <a:cs typeface="Times New Roman" panose="02020603050405020304" pitchFamily="18" charset="0"/>
              </a:rPr>
              <a:t>编程限时测验 </a:t>
            </a:r>
            <a:r>
              <a:rPr lang="zh-CN" altLang="en-US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7%</a:t>
            </a: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en-US" altLang="zh-CN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ea typeface="隶书" panose="02010509060101010101" pitchFamily="49" charset="-122"/>
                <a:cs typeface="Times New Roman" panose="02020603050405020304" pitchFamily="18" charset="0"/>
              </a:rPr>
              <a:t>       </a:t>
            </a:r>
            <a:r>
              <a:rPr lang="zh-CN" altLang="en-US" sz="2000" dirty="0">
                <a:ea typeface="隶书" panose="02010509060101010101" pitchFamily="49" charset="-122"/>
                <a:cs typeface="Times New Roman" panose="02020603050405020304" pitchFamily="18" charset="0"/>
              </a:rPr>
              <a:t>分析题目，限时完成</a:t>
            </a:r>
            <a:endParaRPr lang="en-US" altLang="zh-CN" sz="2000" dirty="0"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r>
              <a:rPr lang="zh-CN" altLang="en-US" sz="2400" b="1" dirty="0">
                <a:ea typeface="隶书" panose="02010509060101010101" pitchFamily="49" charset="-122"/>
                <a:cs typeface="Times New Roman" panose="02020603050405020304" pitchFamily="18" charset="0"/>
              </a:rPr>
              <a:t> （</a:t>
            </a:r>
            <a:r>
              <a:rPr lang="en-US" altLang="zh-CN" sz="2400" b="1" dirty="0">
                <a:ea typeface="隶书" panose="02010509060101010101" pitchFamily="49" charset="-122"/>
                <a:cs typeface="Times New Roman" panose="02020603050405020304" pitchFamily="18" charset="0"/>
              </a:rPr>
              <a:t>4</a:t>
            </a:r>
            <a:r>
              <a:rPr lang="zh-CN" altLang="en-US" sz="2400" b="1" dirty="0">
                <a:ea typeface="隶书" panose="02010509060101010101" pitchFamily="49" charset="-122"/>
                <a:cs typeface="Times New Roman" panose="02020603050405020304" pitchFamily="18" charset="0"/>
              </a:rPr>
              <a:t>） 上课考勤 </a:t>
            </a:r>
            <a:r>
              <a:rPr lang="zh-CN" altLang="en-US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3%</a:t>
            </a:r>
            <a:r>
              <a:rPr lang="zh-CN" altLang="en-US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。（</a:t>
            </a:r>
            <a:r>
              <a:rPr lang="en-US" altLang="zh-CN" sz="2400" b="1" dirty="0" err="1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i</a:t>
            </a:r>
            <a:r>
              <a:rPr lang="zh-CN" altLang="en-US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北理</a:t>
            </a:r>
            <a:r>
              <a:rPr lang="en-US" altLang="zh-CN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app</a:t>
            </a:r>
            <a:r>
              <a:rPr lang="zh-CN" altLang="en-US" sz="2400" b="1" dirty="0">
                <a:solidFill>
                  <a:srgbClr val="FF0066"/>
                </a:solidFill>
                <a:ea typeface="隶书" panose="02010509060101010101" pitchFamily="49" charset="-122"/>
                <a:cs typeface="Times New Roman" panose="02020603050405020304" pitchFamily="18" charset="0"/>
              </a:rPr>
              <a:t>群内打卡）</a:t>
            </a:r>
            <a:endParaRPr lang="en-US" altLang="zh-CN" sz="2400" b="1" dirty="0">
              <a:solidFill>
                <a:srgbClr val="FF0066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kumimoji="1" lang="zh-CN" altLang="en-US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79D1AFA-D474-7E96-DC0E-511804A734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9DABE-D16F-4266-87BB-C5250BC7121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9718AD0-5E09-933D-46C4-C8BD7BDE1C99}"/>
              </a:ext>
            </a:extLst>
          </p:cNvPr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0D3EE251-DD37-8084-4749-498D79913B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7642D2A-E742-89BB-BE94-4D25E57158A8}"/>
              </a:ext>
            </a:extLst>
          </p:cNvPr>
          <p:cNvSpPr txBox="1"/>
          <p:nvPr/>
        </p:nvSpPr>
        <p:spPr>
          <a:xfrm>
            <a:off x="765312" y="3677478"/>
            <a:ext cx="828923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chemeClr val="tx1"/>
                </a:solidFill>
              </a:rPr>
              <a:t>3. </a:t>
            </a:r>
            <a:r>
              <a:rPr kumimoji="1" lang="zh-CN" altLang="en-US" sz="2400" dirty="0">
                <a:solidFill>
                  <a:schemeClr val="tx1"/>
                </a:solidFill>
              </a:rPr>
              <a:t>通知和答疑（</a:t>
            </a:r>
            <a:r>
              <a:rPr kumimoji="1" lang="en-US" altLang="zh-CN" sz="2400" dirty="0">
                <a:solidFill>
                  <a:schemeClr val="tx1"/>
                </a:solidFill>
              </a:rPr>
              <a:t> 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i</a:t>
            </a:r>
            <a:r>
              <a:rPr kumimoji="1" lang="zh-CN" altLang="en-US" sz="2400" dirty="0">
                <a:solidFill>
                  <a:schemeClr val="tx1"/>
                </a:solidFill>
              </a:rPr>
              <a:t>北理加入钉钉群）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    （</a:t>
            </a:r>
            <a:r>
              <a:rPr kumimoji="1" lang="en-US" altLang="zh-CN" sz="2400" dirty="0">
                <a:solidFill>
                  <a:schemeClr val="tx1"/>
                </a:solidFill>
              </a:rPr>
              <a:t>1</a:t>
            </a:r>
            <a:r>
              <a:rPr kumimoji="1" lang="zh-CN" altLang="en-US" sz="2400" dirty="0">
                <a:solidFill>
                  <a:schemeClr val="tx1"/>
                </a:solidFill>
              </a:rPr>
              <a:t>）</a:t>
            </a:r>
            <a:r>
              <a:rPr kumimoji="1" lang="en-US" altLang="zh-CN" sz="2400" dirty="0">
                <a:solidFill>
                  <a:schemeClr val="tx1"/>
                </a:solidFill>
              </a:rPr>
              <a:t>2026</a:t>
            </a:r>
            <a:r>
              <a:rPr kumimoji="1" lang="zh-CN" altLang="en-US" sz="2400" dirty="0">
                <a:solidFill>
                  <a:schemeClr val="tx1"/>
                </a:solidFill>
              </a:rPr>
              <a:t>春周三</a:t>
            </a:r>
            <a:r>
              <a:rPr kumimoji="1" lang="en-US" altLang="zh-CN" sz="2400" dirty="0">
                <a:solidFill>
                  <a:schemeClr val="tx1"/>
                </a:solidFill>
              </a:rPr>
              <a:t>-c</a:t>
            </a:r>
            <a:r>
              <a:rPr kumimoji="1" lang="zh-CN" altLang="en-US" sz="2400" dirty="0">
                <a:solidFill>
                  <a:schemeClr val="tx1"/>
                </a:solidFill>
              </a:rPr>
              <a:t>语言   </a:t>
            </a:r>
            <a:r>
              <a:rPr lang="zh-CN" altLang="en-US" sz="2400" i="0" u="none" strike="noStrike" dirty="0">
                <a:effectLst/>
                <a:latin typeface="-apple-system"/>
              </a:rPr>
              <a:t>钉钉群号： </a:t>
            </a:r>
            <a:r>
              <a:rPr lang="en-US" altLang="zh-CN" sz="2400" i="0" u="none" strike="noStrike" dirty="0">
                <a:effectLst/>
                <a:latin typeface="-apple-system"/>
              </a:rPr>
              <a:t>1787-2000-2562</a:t>
            </a:r>
            <a:endParaRPr kumimoji="1" lang="en-US" altLang="zh-CN" sz="2400" dirty="0"/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               仅老师发布信息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endParaRPr kumimoji="1"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    （</a:t>
            </a:r>
            <a:r>
              <a:rPr kumimoji="1" lang="en-US" altLang="zh-CN" sz="2400" dirty="0">
                <a:solidFill>
                  <a:schemeClr val="tx1"/>
                </a:solidFill>
              </a:rPr>
              <a:t>2</a:t>
            </a:r>
            <a:r>
              <a:rPr kumimoji="1" lang="zh-CN" altLang="en-US" sz="2400" dirty="0">
                <a:solidFill>
                  <a:schemeClr val="tx1"/>
                </a:solidFill>
              </a:rPr>
              <a:t>）签到</a:t>
            </a:r>
            <a:r>
              <a:rPr kumimoji="1" lang="en-US" altLang="zh-CN" sz="2400" dirty="0">
                <a:solidFill>
                  <a:schemeClr val="tx1"/>
                </a:solidFill>
              </a:rPr>
              <a:t>-2026</a:t>
            </a:r>
            <a:r>
              <a:rPr kumimoji="1" lang="zh-CN" altLang="en-US" sz="2400" dirty="0">
                <a:solidFill>
                  <a:schemeClr val="tx1"/>
                </a:solidFill>
              </a:rPr>
              <a:t>春周三</a:t>
            </a:r>
            <a:r>
              <a:rPr kumimoji="1" lang="en-US" altLang="zh-CN" sz="2400" dirty="0">
                <a:solidFill>
                  <a:schemeClr val="tx1"/>
                </a:solidFill>
              </a:rPr>
              <a:t>-c</a:t>
            </a:r>
            <a:r>
              <a:rPr kumimoji="1" lang="zh-CN" altLang="en-US" sz="2400" dirty="0">
                <a:solidFill>
                  <a:schemeClr val="tx1"/>
                </a:solidFill>
              </a:rPr>
              <a:t>语言</a:t>
            </a:r>
            <a:r>
              <a:rPr lang="zh-CN" altLang="en-US" sz="2400" b="0" i="0" u="none" strike="noStrike" dirty="0">
                <a:solidFill>
                  <a:srgbClr val="181C1F"/>
                </a:solidFill>
                <a:effectLst/>
                <a:latin typeface="-apple-system"/>
              </a:rPr>
              <a:t>   </a:t>
            </a:r>
            <a:r>
              <a:rPr lang="zh-CN" altLang="en-US" sz="2400" i="0" u="none" strike="noStrike" dirty="0">
                <a:effectLst/>
                <a:latin typeface="-apple-system"/>
              </a:rPr>
              <a:t>钉钉群号： </a:t>
            </a:r>
            <a:r>
              <a:rPr lang="en-US" altLang="zh-CN" sz="2400" i="0" u="none" strike="noStrike" dirty="0">
                <a:effectLst/>
                <a:latin typeface="-apple-system"/>
              </a:rPr>
              <a:t>1744-1500-2350</a:t>
            </a:r>
            <a:endParaRPr kumimoji="1" lang="en-US" altLang="zh-CN" sz="2400" dirty="0"/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 </a:t>
            </a:r>
            <a:r>
              <a:rPr kumimoji="1" lang="en-US" altLang="zh-CN" sz="2400" dirty="0">
                <a:solidFill>
                  <a:schemeClr val="tx1"/>
                </a:solidFill>
              </a:rPr>
              <a:t>	</a:t>
            </a:r>
            <a:r>
              <a:rPr kumimoji="1" lang="zh-CN" altLang="en-US" sz="2400" dirty="0">
                <a:solidFill>
                  <a:schemeClr val="tx1"/>
                </a:solidFill>
              </a:rPr>
              <a:t>   须在教室签到有效</a:t>
            </a:r>
            <a:r>
              <a:rPr kumimoji="1" lang="en-US" altLang="zh-CN" sz="2400" dirty="0">
                <a:solidFill>
                  <a:schemeClr val="tx1"/>
                </a:solidFill>
              </a:rPr>
              <a:t>	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7735214"/>
      </p:ext>
    </p:extLst>
  </p:cSld>
  <p:clrMapOvr>
    <a:masterClrMapping/>
  </p:clrMapOvr>
  <p:transition>
    <p:strips dir="r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BAA60-DB03-68DF-ADC0-AE5021F4F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:a16="http://schemas.microsoft.com/office/drawing/2014/main" id="{C9E148FC-77BA-26A6-37A1-54D50D8585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1039" y="1166018"/>
            <a:ext cx="8915400" cy="4525963"/>
          </a:xfrm>
        </p:spPr>
        <p:txBody>
          <a:bodyPr/>
          <a:lstStyle/>
          <a:p>
            <a:pPr eaLnBrk="1" hangingPunct="1">
              <a:lnSpc>
                <a:spcPct val="120000"/>
              </a:lnSpc>
              <a:buFontTx/>
              <a:buNone/>
            </a:pPr>
            <a:endParaRPr lang="en-US" altLang="zh-CN" sz="2400" b="1" dirty="0">
              <a:solidFill>
                <a:srgbClr val="FF0066"/>
              </a:solidFill>
              <a:ea typeface="隶书" panose="020105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lnSpc>
                <a:spcPct val="120000"/>
              </a:lnSpc>
              <a:buFontTx/>
              <a:buNone/>
            </a:pPr>
            <a:endParaRPr kumimoji="1" lang="zh-CN" altLang="en-US" sz="2400" b="1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954E75-F28C-C78C-8B9F-DCA5349BCA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D9DABE-D16F-4266-87BB-C5250BC7121B}" type="slidenum">
              <a:rPr lang="zh-CN" altLang="en-US" smtClean="0"/>
              <a:t>8</a:t>
            </a:fld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35FADB-ACD2-9AFA-7E8C-DCDAAAE39052}"/>
              </a:ext>
            </a:extLst>
          </p:cNvPr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BB787F9F-15D0-3EAB-ADA0-F0F609E148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011D755-AE16-669A-C61F-8418A087B1BF}"/>
              </a:ext>
            </a:extLst>
          </p:cNvPr>
          <p:cNvSpPr txBox="1"/>
          <p:nvPr/>
        </p:nvSpPr>
        <p:spPr>
          <a:xfrm>
            <a:off x="497637" y="1236808"/>
            <a:ext cx="82173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400" dirty="0">
                <a:solidFill>
                  <a:schemeClr val="tx1"/>
                </a:solidFill>
              </a:rPr>
              <a:t>3. </a:t>
            </a:r>
            <a:r>
              <a:rPr kumimoji="1" lang="zh-CN" altLang="en-US" sz="2400" dirty="0">
                <a:solidFill>
                  <a:schemeClr val="tx1"/>
                </a:solidFill>
              </a:rPr>
              <a:t>通知和答疑（</a:t>
            </a:r>
            <a:r>
              <a:rPr kumimoji="1" lang="en-US" altLang="zh-CN" sz="2400" dirty="0">
                <a:solidFill>
                  <a:schemeClr val="tx1"/>
                </a:solidFill>
              </a:rPr>
              <a:t> </a:t>
            </a:r>
            <a:r>
              <a:rPr kumimoji="1" lang="en-US" altLang="zh-CN" sz="2400" dirty="0" err="1">
                <a:solidFill>
                  <a:schemeClr val="tx1"/>
                </a:solidFill>
              </a:rPr>
              <a:t>i</a:t>
            </a:r>
            <a:r>
              <a:rPr kumimoji="1" lang="zh-CN" altLang="en-US" sz="2400" dirty="0">
                <a:solidFill>
                  <a:schemeClr val="tx1"/>
                </a:solidFill>
              </a:rPr>
              <a:t>北理加入钉钉群）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    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（</a:t>
            </a:r>
            <a:r>
              <a:rPr kumimoji="1" lang="en-US" altLang="zh-CN" sz="2400" dirty="0">
                <a:solidFill>
                  <a:schemeClr val="tx1"/>
                </a:solidFill>
              </a:rPr>
              <a:t>1</a:t>
            </a:r>
            <a:r>
              <a:rPr kumimoji="1" lang="zh-CN" altLang="en-US" sz="2400" dirty="0">
                <a:solidFill>
                  <a:schemeClr val="tx1"/>
                </a:solidFill>
              </a:rPr>
              <a:t>）</a:t>
            </a:r>
            <a:r>
              <a:rPr kumimoji="1" lang="en-US" altLang="zh-CN" sz="2400" dirty="0">
                <a:solidFill>
                  <a:schemeClr val="tx1"/>
                </a:solidFill>
              </a:rPr>
              <a:t>2026</a:t>
            </a:r>
            <a:r>
              <a:rPr kumimoji="1" lang="zh-CN" altLang="en-US" sz="2400" dirty="0">
                <a:solidFill>
                  <a:schemeClr val="tx1"/>
                </a:solidFill>
              </a:rPr>
              <a:t>春周三</a:t>
            </a:r>
            <a:r>
              <a:rPr kumimoji="1" lang="en-US" altLang="zh-CN" sz="2400" dirty="0">
                <a:solidFill>
                  <a:schemeClr val="tx1"/>
                </a:solidFill>
              </a:rPr>
              <a:t>-c</a:t>
            </a:r>
            <a:r>
              <a:rPr kumimoji="1" lang="zh-CN" altLang="en-US" sz="2400" dirty="0">
                <a:solidFill>
                  <a:schemeClr val="tx1"/>
                </a:solidFill>
              </a:rPr>
              <a:t>语言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               仅老师发布信息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endParaRPr kumimoji="1" lang="en-US" altLang="zh-CN" sz="2400" dirty="0">
              <a:solidFill>
                <a:schemeClr val="tx1"/>
              </a:solidFill>
            </a:endParaRPr>
          </a:p>
          <a:p>
            <a:endParaRPr kumimoji="1" lang="en-US" altLang="zh-CN" sz="2400" dirty="0">
              <a:solidFill>
                <a:schemeClr val="tx1"/>
              </a:solidFill>
            </a:endParaRPr>
          </a:p>
          <a:p>
            <a:endParaRPr kumimoji="1" lang="en-US" altLang="zh-CN" sz="2400" dirty="0">
              <a:solidFill>
                <a:schemeClr val="tx1"/>
              </a:solidFill>
            </a:endParaRPr>
          </a:p>
          <a:p>
            <a:endParaRPr kumimoji="1" lang="en-US" altLang="zh-CN" sz="2400" dirty="0">
              <a:solidFill>
                <a:schemeClr val="tx1"/>
              </a:solidFill>
            </a:endParaRPr>
          </a:p>
          <a:p>
            <a:endParaRPr kumimoji="1" lang="en-US" altLang="zh-CN" sz="2400" dirty="0">
              <a:solidFill>
                <a:schemeClr val="tx1"/>
              </a:solidFill>
            </a:endParaRPr>
          </a:p>
          <a:p>
            <a:endParaRPr kumimoji="1"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（</a:t>
            </a:r>
            <a:r>
              <a:rPr kumimoji="1" lang="en-US" altLang="zh-CN" sz="2400" dirty="0">
                <a:solidFill>
                  <a:schemeClr val="tx1"/>
                </a:solidFill>
              </a:rPr>
              <a:t>2</a:t>
            </a:r>
            <a:r>
              <a:rPr kumimoji="1" lang="zh-CN" altLang="en-US" sz="2400" dirty="0">
                <a:solidFill>
                  <a:schemeClr val="tx1"/>
                </a:solidFill>
              </a:rPr>
              <a:t>）签到</a:t>
            </a:r>
            <a:r>
              <a:rPr kumimoji="1" lang="en-US" altLang="zh-CN" sz="2400" dirty="0">
                <a:solidFill>
                  <a:schemeClr val="tx1"/>
                </a:solidFill>
              </a:rPr>
              <a:t>-2026</a:t>
            </a:r>
            <a:r>
              <a:rPr kumimoji="1" lang="zh-CN" altLang="en-US" sz="2400" dirty="0">
                <a:solidFill>
                  <a:schemeClr val="tx1"/>
                </a:solidFill>
              </a:rPr>
              <a:t>春周三</a:t>
            </a:r>
            <a:r>
              <a:rPr kumimoji="1" lang="en-US" altLang="zh-CN" sz="2400" dirty="0">
                <a:solidFill>
                  <a:schemeClr val="tx1"/>
                </a:solidFill>
              </a:rPr>
              <a:t>-c</a:t>
            </a:r>
            <a:r>
              <a:rPr kumimoji="1" lang="zh-CN" altLang="en-US" sz="2400" dirty="0">
                <a:solidFill>
                  <a:schemeClr val="tx1"/>
                </a:solidFill>
              </a:rPr>
              <a:t>语言</a:t>
            </a:r>
            <a:endParaRPr kumimoji="1" lang="en-US" altLang="zh-CN" sz="2400" dirty="0">
              <a:solidFill>
                <a:schemeClr val="tx1"/>
              </a:solidFill>
            </a:endParaRPr>
          </a:p>
          <a:p>
            <a:r>
              <a:rPr kumimoji="1" lang="zh-CN" altLang="en-US" sz="2400" dirty="0">
                <a:solidFill>
                  <a:schemeClr val="tx1"/>
                </a:solidFill>
              </a:rPr>
              <a:t>          须在教室签到有效</a:t>
            </a:r>
            <a:r>
              <a:rPr kumimoji="1" lang="en-US" altLang="zh-CN" sz="2400" dirty="0">
                <a:solidFill>
                  <a:schemeClr val="tx1"/>
                </a:solidFill>
              </a:rPr>
              <a:t>	</a:t>
            </a:r>
            <a:endParaRPr kumimoji="1" lang="zh-CN" altLang="en-US" sz="2400" dirty="0">
              <a:solidFill>
                <a:schemeClr val="tx1"/>
              </a:solidFill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17E6CBD-DD97-170B-5C7A-7CF4F8B0932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76" r="3590" b="10133"/>
          <a:stretch/>
        </p:blipFill>
        <p:spPr>
          <a:xfrm>
            <a:off x="4042805" y="1740409"/>
            <a:ext cx="3211868" cy="2561266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55F9BC49-C1C7-F306-C0F0-655367CA8B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8360" y="4370817"/>
            <a:ext cx="3048273" cy="235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374547"/>
      </p:ext>
    </p:extLst>
  </p:cSld>
  <p:clrMapOvr>
    <a:masterClrMapping/>
  </p:clrMapOvr>
  <p:transition>
    <p:strips dir="r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 txBox="1">
            <a:spLocks noChangeArrowheads="1"/>
          </p:cNvSpPr>
          <p:nvPr/>
        </p:nvSpPr>
        <p:spPr bwMode="auto">
          <a:xfrm>
            <a:off x="763588" y="1022350"/>
            <a:ext cx="4049712" cy="622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sz="4000" u="sng">
                <a:solidFill>
                  <a:srgbClr val="C000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上机说明</a:t>
            </a:r>
            <a:endParaRPr lang="zh-CN" altLang="zh-CN" sz="4000" u="sng">
              <a:solidFill>
                <a:srgbClr val="C00000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9" name="内容占位符 2"/>
          <p:cNvSpPr txBox="1"/>
          <p:nvPr/>
        </p:nvSpPr>
        <p:spPr bwMode="auto">
          <a:xfrm>
            <a:off x="763587" y="1995488"/>
            <a:ext cx="8580437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defRPr/>
            </a:pP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地点：文萃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H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楼</a:t>
            </a:r>
            <a:r>
              <a:rPr lang="en-US" altLang="zh-CN" sz="3600" dirty="0">
                <a:latin typeface="隶书" panose="02010509060101010101" pitchFamily="49" charset="-122"/>
                <a:ea typeface="隶书" panose="02010509060101010101" pitchFamily="49" charset="-122"/>
              </a:rPr>
              <a:t>xxx</a:t>
            </a:r>
            <a:r>
              <a:rPr lang="zh-CN" altLang="en-US" sz="3600" dirty="0">
                <a:latin typeface="隶书" panose="02010509060101010101" pitchFamily="49" charset="-122"/>
                <a:ea typeface="隶书" panose="02010509060101010101" pitchFamily="49" charset="-122"/>
              </a:rPr>
              <a:t>机房</a:t>
            </a:r>
            <a:endParaRPr lang="en-US" altLang="zh-CN" sz="3600" dirty="0"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pPr eaLnBrk="1" hangingPunct="1">
              <a:defRPr/>
            </a:pPr>
            <a:r>
              <a:rPr lang="zh-CN" altLang="en-US" sz="3200" dirty="0">
                <a:latin typeface="隶书" panose="02010509060101010101" pitchFamily="49" charset="-122"/>
                <a:ea typeface="隶书" panose="02010509060101010101" pitchFamily="49" charset="-122"/>
              </a:rPr>
              <a:t>上机时间（后面会再通知）：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3318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4C9C9000-8EF6-48C8-89ED-6C7A9D2C8F39}" type="slidenum">
              <a:rPr lang="zh-CN" altLang="en-US" sz="1200">
                <a:latin typeface="Times New Roman" panose="02020603050405020304" pitchFamily="18" charset="0"/>
              </a:rPr>
              <a:t>9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p" bldLvl="3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矩形 3"/>
          <p:cNvSpPr>
            <a:spLocks noChangeArrowheads="1"/>
          </p:cNvSpPr>
          <p:nvPr/>
        </p:nvSpPr>
        <p:spPr bwMode="auto">
          <a:xfrm>
            <a:off x="0" y="214313"/>
            <a:ext cx="9906000" cy="5000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/>
          </p:nvPr>
        </p:nvSpPr>
        <p:spPr>
          <a:xfrm>
            <a:off x="577850" y="714375"/>
            <a:ext cx="9623425" cy="771525"/>
          </a:xfrm>
        </p:spPr>
        <p:txBody>
          <a:bodyPr/>
          <a:lstStyle/>
          <a:p>
            <a:pPr algn="l" eaLnBrk="1" hangingPunct="1"/>
            <a:r>
              <a:rPr lang="en-US" altLang="zh-CN" sz="4000" u="sng" dirty="0">
                <a:solidFill>
                  <a:srgbClr val="CC0000"/>
                </a:solidFill>
                <a:ea typeface="隶书" panose="02010509060101010101" pitchFamily="49" charset="-122"/>
              </a:rPr>
              <a:t>SPOC</a:t>
            </a:r>
            <a:r>
              <a:rPr lang="zh-CN" altLang="en-US" sz="4000" u="sng" dirty="0">
                <a:solidFill>
                  <a:srgbClr val="CC0000"/>
                </a:solidFill>
                <a:ea typeface="隶书" panose="02010509060101010101" pitchFamily="49" charset="-122"/>
              </a:rPr>
              <a:t>课程：上、下</a:t>
            </a:r>
            <a:endParaRPr lang="en-US" altLang="zh-CN" sz="4000" u="sng" dirty="0">
              <a:solidFill>
                <a:srgbClr val="CC0000"/>
              </a:solidFill>
              <a:ea typeface="隶书" panose="020105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4343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66006ACD-B44F-481E-A8A8-21C24F66CCED}" type="slidenum">
              <a:rPr lang="zh-CN" altLang="en-US" sz="1200">
                <a:latin typeface="Times New Roman" panose="02020603050405020304" pitchFamily="18" charset="0"/>
              </a:rPr>
              <a:t>10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726940" y="861814"/>
            <a:ext cx="5100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中国大学</a:t>
            </a:r>
            <a:r>
              <a:rPr lang="en-US" altLang="zh-CN" dirty="0"/>
              <a:t>MOOC </a:t>
            </a:r>
            <a:r>
              <a:rPr lang="zh-CN" altLang="en-US" dirty="0">
                <a:hlinkClick r:id="rId2"/>
              </a:rPr>
              <a:t>https://www.icourse163.org/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16" name="文本框 15"/>
          <p:cNvSpPr txBox="1"/>
          <p:nvPr/>
        </p:nvSpPr>
        <p:spPr>
          <a:xfrm>
            <a:off x="4726940" y="1304667"/>
            <a:ext cx="5100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学校云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7465336" y="1332214"/>
            <a:ext cx="330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密码：</a:t>
            </a:r>
            <a:r>
              <a:rPr lang="en-US" altLang="zh-CN" dirty="0" err="1"/>
              <a:t>cyuyan</a:t>
            </a: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7AF0FC1-B000-AFCD-DAC9-762F297C1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56" y="1950998"/>
            <a:ext cx="7772400" cy="3165535"/>
          </a:xfrm>
          <a:prstGeom prst="rect">
            <a:avLst/>
          </a:prstGeom>
        </p:spPr>
      </p:pic>
    </p:spTree>
  </p:cSld>
  <p:clrMapOvr>
    <a:masterClrMapping/>
  </p:clrMapOvr>
  <p:transition>
    <p:strips dir="r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3"/>
          <p:cNvSpPr>
            <a:spLocks noChangeArrowheads="1"/>
          </p:cNvSpPr>
          <p:nvPr/>
        </p:nvSpPr>
        <p:spPr bwMode="auto">
          <a:xfrm>
            <a:off x="0" y="214313"/>
            <a:ext cx="9906000" cy="5000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>
          <a:xfrm>
            <a:off x="282576" y="762000"/>
            <a:ext cx="2398568" cy="771525"/>
          </a:xfrm>
        </p:spPr>
        <p:txBody>
          <a:bodyPr/>
          <a:lstStyle/>
          <a:p>
            <a:pPr algn="l" eaLnBrk="1" hangingPunct="1"/>
            <a:r>
              <a:rPr lang="zh-CN" altLang="en-US" sz="4000" u="sng" dirty="0">
                <a:solidFill>
                  <a:srgbClr val="CC0000"/>
                </a:solidFill>
                <a:ea typeface="隶书" panose="02010509060101010101" pitchFamily="49" charset="-122"/>
              </a:rPr>
              <a:t>北理乐学</a:t>
            </a:r>
            <a:endParaRPr lang="en-US" altLang="zh-CN" sz="4000" dirty="0">
              <a:solidFill>
                <a:schemeClr val="tx1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3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A8CF7863-F86C-41D1-8F51-070D1956C7F9}" type="slidenum">
              <a:rPr lang="zh-CN" altLang="en-US" sz="1200">
                <a:latin typeface="Times New Roman" panose="02020603050405020304" pitchFamily="18" charset="0"/>
              </a:rPr>
              <a:t>11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3322204" y="933450"/>
            <a:ext cx="60884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tx1"/>
                </a:solidFill>
                <a:latin typeface="Consolas" panose="020B0609020204030204" pitchFamily="49" charset="0"/>
              </a:rPr>
              <a:t>http://lexue.bit.edu.cn/</a:t>
            </a:r>
            <a:endParaRPr lang="zh-CN" altLang="en-US" sz="32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428750" y="4421505"/>
            <a:ext cx="700214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0" i="0" dirty="0">
                <a:solidFill>
                  <a:srgbClr val="495057"/>
                </a:solidFill>
                <a:effectLst/>
                <a:latin typeface="Arial" panose="020B0604020202020204" pitchFamily="34" charset="0"/>
              </a:rPr>
              <a:t>分组选课密码：老师名字拼音小写字母</a:t>
            </a:r>
            <a:r>
              <a:rPr lang="en-US" altLang="zh-CN" sz="2400" b="0" i="0" dirty="0">
                <a:solidFill>
                  <a:srgbClr val="495057"/>
                </a:solidFill>
                <a:effectLst/>
                <a:latin typeface="Arial" panose="020B0604020202020204" pitchFamily="34" charset="0"/>
              </a:rPr>
              <a:t>+2026</a:t>
            </a:r>
          </a:p>
          <a:p>
            <a:r>
              <a:rPr lang="en-US" altLang="zh-CN" sz="2400" b="0" i="0" dirty="0">
                <a:solidFill>
                  <a:srgbClr val="495057"/>
                </a:solidFill>
                <a:effectLst/>
                <a:latin typeface="Arial" panose="020B0604020202020204" pitchFamily="34" charset="0"/>
              </a:rPr>
              <a:t>zhouqing2026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rcRect l="1484" b="8374"/>
          <a:stretch>
            <a:fillRect/>
          </a:stretch>
        </p:blipFill>
        <p:spPr>
          <a:xfrm>
            <a:off x="604520" y="1891030"/>
            <a:ext cx="8009890" cy="2397125"/>
          </a:xfrm>
          <a:prstGeom prst="rect">
            <a:avLst/>
          </a:prstGeom>
        </p:spPr>
      </p:pic>
    </p:spTree>
  </p:cSld>
  <p:clrMapOvr>
    <a:masterClrMapping/>
  </p:clrMapOvr>
  <p:transition>
    <p:strips dir="r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矩形 3"/>
          <p:cNvSpPr>
            <a:spLocks noChangeArrowheads="1"/>
          </p:cNvSpPr>
          <p:nvPr/>
        </p:nvSpPr>
        <p:spPr bwMode="auto">
          <a:xfrm>
            <a:off x="0" y="214313"/>
            <a:ext cx="9906000" cy="5000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5366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A8CF7863-F86C-41D1-8F51-070D1956C7F9}" type="slidenum">
              <a:rPr lang="zh-CN" altLang="en-US" sz="1200">
                <a:latin typeface="Times New Roman" panose="02020603050405020304" pitchFamily="18" charset="0"/>
              </a:rPr>
              <a:t>12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74980" y="896303"/>
            <a:ext cx="8915400" cy="1143000"/>
          </a:xfrm>
        </p:spPr>
        <p:txBody>
          <a:bodyPr/>
          <a:lstStyle/>
          <a:p>
            <a:r>
              <a:rPr lang="en-US" altLang="zh-CN"/>
              <a:t>DevC++ </a:t>
            </a:r>
            <a:r>
              <a:rPr lang="zh-CN" altLang="en-US"/>
              <a:t>下载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rcRect r="1498" b="24970"/>
          <a:stretch>
            <a:fillRect/>
          </a:stretch>
        </p:blipFill>
        <p:spPr>
          <a:xfrm>
            <a:off x="829945" y="2129790"/>
            <a:ext cx="8588375" cy="363410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  <p:transition>
    <p:strips dir="r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3"/>
          <p:cNvSpPr>
            <a:spLocks noGrp="1" noChangeArrowheads="1"/>
          </p:cNvSpPr>
          <p:nvPr>
            <p:ph sz="quarter" idx="4294967295"/>
          </p:nvPr>
        </p:nvSpPr>
        <p:spPr>
          <a:xfrm>
            <a:off x="301625" y="1089025"/>
            <a:ext cx="9604375" cy="4940300"/>
          </a:xfrm>
        </p:spPr>
        <p:txBody>
          <a:bodyPr/>
          <a:lstStyle/>
          <a:p>
            <a:pPr algn="just"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1</a:t>
            </a:r>
            <a:r>
              <a:rPr lang="zh-CN" altLang="en-US" sz="2800" b="1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、作业</a:t>
            </a: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作业的发布、提交均在</a:t>
            </a:r>
            <a:r>
              <a:rPr lang="en-US" altLang="zh-CN" sz="2800" b="1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SPOC</a:t>
            </a:r>
            <a:r>
              <a:rPr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和</a:t>
            </a:r>
            <a:r>
              <a:rPr lang="zh-CN" altLang="en-US" sz="2800" b="1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北理乐学</a:t>
            </a:r>
            <a:r>
              <a:rPr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中进行。注意</a:t>
            </a:r>
            <a:r>
              <a:rPr lang="zh-CN" altLang="en-US" sz="2800" b="1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一定要在规定的时间内提交</a:t>
            </a:r>
            <a:r>
              <a:rPr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，过期不接受。 </a:t>
            </a:r>
          </a:p>
          <a:p>
            <a:pPr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平时成绩根据题目分别记分，最后折合记入总成绩（系统自动）。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en-US" altLang="zh-CN" sz="2800" b="1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2</a:t>
            </a:r>
            <a:r>
              <a:rPr lang="zh-CN" altLang="en-US" sz="2800" b="1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、答疑形式</a:t>
            </a: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上机课答疑；</a:t>
            </a:r>
            <a:endParaRPr lang="en-US" altLang="zh-CN" sz="2800" b="1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 algn="just" eaLnBrk="1" hangingPunct="1">
              <a:lnSpc>
                <a:spcPct val="115000"/>
              </a:lnSpc>
              <a:spcBef>
                <a:spcPct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2800" b="1" dirty="0">
                <a:latin typeface="华文仿宋" panose="02010600040101010101" pitchFamily="2" charset="-122"/>
                <a:ea typeface="华文仿宋" panose="02010600040101010101" pitchFamily="2" charset="-122"/>
              </a:rPr>
              <a:t>钉钉群内答疑。   </a:t>
            </a: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关于我们的课程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639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8CBB39B1-D7EF-4EC9-8368-DDBC17C71E89}" type="slidenum">
              <a:rPr lang="zh-CN" altLang="en-US" sz="1200">
                <a:latin typeface="Times New Roman" panose="02020603050405020304" pitchFamily="18" charset="0"/>
              </a:rPr>
              <a:t>13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0240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" dur="500"/>
                                        <p:tgtEl>
                                          <p:spTgt spid="1024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" dur="500"/>
                                        <p:tgtEl>
                                          <p:spTgt spid="1024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024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1" dur="500"/>
                                        <p:tgtEl>
                                          <p:spTgt spid="1024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10240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3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AutoShape 1" descr="\\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AutoShape 2" descr="\\"/>
          <p:cNvSpPr>
            <a:spLocks noChangeAspect="1" noChangeArrowheads="1"/>
          </p:cNvSpPr>
          <p:nvPr/>
        </p:nvSpPr>
        <p:spPr bwMode="auto">
          <a:xfrm>
            <a:off x="152400" y="1524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2" name="AutoShape 3" descr="\\"/>
          <p:cNvSpPr>
            <a:spLocks noChangeAspect="1" noChangeArrowheads="1"/>
          </p:cNvSpPr>
          <p:nvPr/>
        </p:nvSpPr>
        <p:spPr bwMode="auto">
          <a:xfrm>
            <a:off x="304800" y="3048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3" name="AutoShape 4" descr="\\"/>
          <p:cNvSpPr>
            <a:spLocks noChangeAspect="1" noChangeArrowheads="1"/>
          </p:cNvSpPr>
          <p:nvPr/>
        </p:nvSpPr>
        <p:spPr bwMode="auto">
          <a:xfrm>
            <a:off x="457200" y="4572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4" name="AutoShape 5" descr="\\"/>
          <p:cNvSpPr>
            <a:spLocks noChangeAspect="1" noChangeArrowheads="1"/>
          </p:cNvSpPr>
          <p:nvPr/>
        </p:nvSpPr>
        <p:spPr bwMode="auto">
          <a:xfrm>
            <a:off x="609600" y="6096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5" name="AutoShape 6" descr="\\"/>
          <p:cNvSpPr>
            <a:spLocks noChangeAspect="1" noChangeArrowheads="1"/>
          </p:cNvSpPr>
          <p:nvPr/>
        </p:nvSpPr>
        <p:spPr bwMode="auto">
          <a:xfrm>
            <a:off x="762000" y="76200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zh-CN" altLang="en-US" sz="180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0" y="0"/>
            <a:ext cx="9906000" cy="762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spcBef>
                <a:spcPct val="20000"/>
              </a:spcBef>
              <a:defRPr/>
            </a:pPr>
            <a:endParaRPr lang="zh-CN" altLang="en-US"/>
          </a:p>
        </p:txBody>
      </p:sp>
      <p:sp>
        <p:nvSpPr>
          <p:cNvPr id="13" name="Rectangle 2"/>
          <p:cNvSpPr>
            <a:spLocks noChangeArrowheads="1"/>
          </p:cNvSpPr>
          <p:nvPr/>
        </p:nvSpPr>
        <p:spPr bwMode="auto">
          <a:xfrm>
            <a:off x="474663" y="127000"/>
            <a:ext cx="5399087" cy="6794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anchor="ctr"/>
          <a:lstStyle/>
          <a:p>
            <a:pPr eaLnBrk="1" hangingPunct="1">
              <a:lnSpc>
                <a:spcPct val="130000"/>
              </a:lnSpc>
              <a:spcBef>
                <a:spcPct val="20000"/>
              </a:spcBef>
              <a:defRPr/>
            </a:pPr>
            <a:r>
              <a:rPr lang="zh-CN" altLang="en-US" sz="3600" b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网络教室的使用</a:t>
            </a:r>
            <a:endParaRPr lang="en-US" altLang="zh-CN" sz="3600" b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2538" name="Rectangle 2"/>
          <p:cNvSpPr>
            <a:spLocks noGrp="1" noChangeArrowheads="1"/>
          </p:cNvSpPr>
          <p:nvPr/>
        </p:nvSpPr>
        <p:spPr bwMode="auto">
          <a:xfrm>
            <a:off x="696913" y="1023938"/>
            <a:ext cx="6470650" cy="77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4000" b="0" dirty="0">
                <a:latin typeface="微软雅黑" panose="020B0503020204020204" charset="-122"/>
                <a:ea typeface="微软雅黑" panose="020B0503020204020204" charset="-122"/>
              </a:rPr>
              <a:t>关于程序设计题的说明</a:t>
            </a:r>
          </a:p>
        </p:txBody>
      </p:sp>
      <p:sp>
        <p:nvSpPr>
          <p:cNvPr id="22539" name="Rectangle 3"/>
          <p:cNvSpPr>
            <a:spLocks noGrp="1" noChangeArrowheads="1"/>
          </p:cNvSpPr>
          <p:nvPr/>
        </p:nvSpPr>
        <p:spPr bwMode="auto">
          <a:xfrm>
            <a:off x="609600" y="1905001"/>
            <a:ext cx="8801100" cy="36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292100" indent="-2921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每个题目有</a:t>
            </a:r>
            <a:r>
              <a:rPr lang="zh-CN" altLang="en-US" dirty="0">
                <a:solidFill>
                  <a:srgbClr val="C00000"/>
                </a:solidFill>
                <a:latin typeface="华文仿宋" panose="02010600040101010101" pitchFamily="2" charset="-122"/>
                <a:ea typeface="华文仿宋" panose="02010600040101010101" pitchFamily="2" charset="-122"/>
              </a:rPr>
              <a:t>截止时间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；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每个题目有显示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/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隐藏的测试用例，全部通过才算满分；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可以反复提交，但只保留最近的</a:t>
            </a:r>
            <a:r>
              <a:rPr lang="en-US" altLang="zh-CN" dirty="0">
                <a:latin typeface="华文仿宋" panose="02010600040101010101" pitchFamily="2" charset="-122"/>
                <a:ea typeface="华文仿宋" panose="02010600040101010101" pitchFamily="2" charset="-122"/>
              </a:rPr>
              <a:t>6</a:t>
            </a: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次提交记录；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r>
              <a:rPr lang="zh-CN" altLang="en-US" dirty="0">
                <a:latin typeface="华文仿宋" panose="02010600040101010101" pitchFamily="2" charset="-122"/>
                <a:ea typeface="华文仿宋" panose="02010600040101010101" pitchFamily="2" charset="-122"/>
              </a:rPr>
              <a:t>按最终一次提交计分。</a:t>
            </a:r>
            <a:endParaRPr lang="en-US" altLang="zh-CN" dirty="0">
              <a:latin typeface="华文仿宋" panose="02010600040101010101" pitchFamily="2" charset="-122"/>
              <a:ea typeface="华文仿宋" panose="02010600040101010101" pitchFamily="2" charset="-122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endParaRPr lang="en-US" altLang="zh-CN" dirty="0">
              <a:latin typeface="+mn-ea"/>
              <a:ea typeface="+mn-ea"/>
            </a:endParaRPr>
          </a:p>
          <a:p>
            <a:pPr>
              <a:spcBef>
                <a:spcPct val="10000"/>
              </a:spcBef>
              <a:spcAft>
                <a:spcPct val="10000"/>
              </a:spcAft>
              <a:buClr>
                <a:schemeClr val="accent1"/>
              </a:buClr>
              <a:buFont typeface="Wingdings" panose="05000000000000000000" pitchFamily="2" charset="2"/>
              <a:buChar char="n"/>
            </a:pPr>
            <a:endParaRPr lang="en-US" altLang="zh-CN" dirty="0">
              <a:latin typeface="+mn-ea"/>
              <a:ea typeface="+mn-ea"/>
            </a:endParaRPr>
          </a:p>
        </p:txBody>
      </p:sp>
      <p:sp>
        <p:nvSpPr>
          <p:cNvPr id="2254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EC88B7BC-4142-4658-BB58-2C8A4681B6F5}" type="slidenum">
              <a:rPr lang="zh-CN" altLang="en-US" sz="1200">
                <a:latin typeface="Times New Roman" panose="02020603050405020304" pitchFamily="18" charset="0"/>
              </a:rPr>
              <a:t>14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trips dir="r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</p:spPr>
        <p:txBody>
          <a:bodyPr/>
          <a:lstStyle/>
          <a:p>
            <a:pPr eaLnBrk="1" hangingPunct="1">
              <a:defRPr/>
            </a:pPr>
            <a:r>
              <a:rPr lang="en-US" altLang="zh-CN" b="1" dirty="0">
                <a:solidFill>
                  <a:schemeClr val="bg1"/>
                </a:solidFill>
              </a:rPr>
              <a:t>How to learn it?</a:t>
            </a:r>
          </a:p>
        </p:txBody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  <a:spcBef>
                <a:spcPts val="765"/>
              </a:spcBef>
              <a:spcAft>
                <a:spcPts val="600"/>
              </a:spcAft>
            </a:pPr>
            <a:r>
              <a:rPr lang="zh-CN" altLang="en-US" sz="4000" dirty="0">
                <a:cs typeface="Times New Roman" panose="02020603050405020304" pitchFamily="18" charset="0"/>
              </a:rPr>
              <a:t>从模仿开始</a:t>
            </a:r>
            <a:endParaRPr lang="en-US" altLang="zh-CN" sz="4000" dirty="0"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765"/>
              </a:spcBef>
              <a:spcAft>
                <a:spcPts val="600"/>
              </a:spcAft>
            </a:pPr>
            <a:r>
              <a:rPr lang="zh-CN" altLang="en-US" sz="4000" dirty="0">
                <a:cs typeface="Times New Roman" panose="02020603050405020304" pitchFamily="18" charset="0"/>
              </a:rPr>
              <a:t>多写代码才能学会编程技能</a:t>
            </a:r>
            <a:endParaRPr lang="en-US" altLang="zh-CN" sz="4000" dirty="0">
              <a:cs typeface="Times New Roman" panose="02020603050405020304" pitchFamily="18" charset="0"/>
            </a:endParaRPr>
          </a:p>
        </p:txBody>
      </p:sp>
      <p:sp>
        <p:nvSpPr>
          <p:cNvPr id="34820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D34C84EE-656D-4BC6-A1C3-75012CA045EE}" type="slidenum">
              <a:rPr lang="zh-CN" altLang="en-US" sz="1200">
                <a:latin typeface="Times New Roman" panose="02020603050405020304" pitchFamily="18" charset="0"/>
              </a:rPr>
              <a:t>15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4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34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灯片编号占位符 1"/>
          <p:cNvSpPr>
            <a:spLocks noGrp="1"/>
          </p:cNvSpPr>
          <p:nvPr>
            <p:ph type="sldNum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buFontTx/>
              <a:buNone/>
            </a:pPr>
            <a:fld id="{64BE8930-DC26-4837-A405-4CA6F418E028}" type="slidenum">
              <a:rPr lang="zh-CN" altLang="en-US" sz="1200">
                <a:latin typeface="Times New Roman" panose="02020603050405020304" pitchFamily="18" charset="0"/>
              </a:rPr>
              <a:t>16</a:t>
            </a:fld>
            <a:endParaRPr lang="zh-CN" altLang="en-US" sz="1200">
              <a:latin typeface="Times New Roman" panose="02020603050405020304" pitchFamily="18" charset="0"/>
            </a:endParaRPr>
          </a:p>
        </p:txBody>
      </p:sp>
      <p:sp>
        <p:nvSpPr>
          <p:cNvPr id="37891" name="Rectangle 2"/>
          <p:cNvSpPr>
            <a:spLocks noGrp="1" noChangeArrowheads="1"/>
          </p:cNvSpPr>
          <p:nvPr/>
        </p:nvSpPr>
        <p:spPr bwMode="auto">
          <a:xfrm>
            <a:off x="2114550" y="4495800"/>
            <a:ext cx="5675313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4000"/>
              <a:t>尽情享受编程的快乐吧！</a:t>
            </a:r>
          </a:p>
        </p:txBody>
      </p:sp>
      <p:pic>
        <p:nvPicPr>
          <p:cNvPr id="35844" name="Picture 2" descr="D:\education\图片素材\7164\0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3463" y="1600200"/>
            <a:ext cx="2552700" cy="2551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Text Box 5"/>
          <p:cNvSpPr txBox="1">
            <a:spLocks noChangeArrowheads="1"/>
          </p:cNvSpPr>
          <p:nvPr/>
        </p:nvSpPr>
        <p:spPr bwMode="auto">
          <a:xfrm>
            <a:off x="508000" y="476250"/>
            <a:ext cx="6396038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6000" i="1">
                <a:solidFill>
                  <a:srgbClr val="FF0000"/>
                </a:solidFill>
                <a:latin typeface="Arial" panose="020B0604020202020204" pitchFamily="34" charset="0"/>
              </a:rPr>
              <a:t>Let’s begin…</a:t>
            </a:r>
          </a:p>
        </p:txBody>
      </p:sp>
    </p:spTree>
  </p:cSld>
  <p:clrMapOvr>
    <a:masterClrMapping/>
  </p:clrMapOvr>
  <p:transition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1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RANCHTO" val="257"/>
  <p:tag name="HOTSPOTTYPE" val="DefinedInNavigator"/>
  <p:tag name="DEFINEDINNAVIGATOR" val="True"/>
  <p:tag name="KSO_WPP_MARK_KEY" val="bd8a49fd-86f6-4c23-bfa7-80f5fb14d32a"/>
  <p:tag name="COMMONDATA" val="eyJoZGlkIjoiY2ZjZGY4MmNhNTgxZTViN2I1OWRjOGUzMmJkYmEwMDAifQ=="/>
</p:tagLst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19050" cap="flat" cmpd="sng" algn="ctr">
          <a:solidFill>
            <a:srgbClr val="66FF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2"/>
        </a:solidFill>
        <a:ln w="19050" cap="flat" cmpd="sng" algn="ctr">
          <a:solidFill>
            <a:srgbClr val="66FF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rgbClr val="FF0000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216</TotalTime>
  <Words>704</Words>
  <Application>Microsoft Macintosh PowerPoint</Application>
  <PresentationFormat>A4 纸张(210x297 毫米)</PresentationFormat>
  <Paragraphs>148</Paragraphs>
  <Slides>16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-apple-system</vt:lpstr>
      <vt:lpstr>黑体</vt:lpstr>
      <vt:lpstr>华文仿宋</vt:lpstr>
      <vt:lpstr>隶书</vt:lpstr>
      <vt:lpstr>宋体</vt:lpstr>
      <vt:lpstr>微软雅黑</vt:lpstr>
      <vt:lpstr>微软雅黑</vt:lpstr>
      <vt:lpstr>Adobe Garamond Pro Bold</vt:lpstr>
      <vt:lpstr>Arial</vt:lpstr>
      <vt:lpstr>Calibri</vt:lpstr>
      <vt:lpstr>Consolas</vt:lpstr>
      <vt:lpstr>Times New Roman</vt:lpstr>
      <vt:lpstr>Wingdings</vt:lpstr>
      <vt:lpstr>默认设计模板</vt:lpstr>
      <vt:lpstr>PowerPoint 演示文稿</vt:lpstr>
      <vt:lpstr>PowerPoint 演示文稿</vt:lpstr>
      <vt:lpstr>PowerPoint 演示文稿</vt:lpstr>
      <vt:lpstr>PowerPoint 演示文稿</vt:lpstr>
      <vt:lpstr> 课程安排</vt:lpstr>
      <vt:lpstr>PowerPoint 演示文稿</vt:lpstr>
      <vt:lpstr>PowerPoint 演示文稿</vt:lpstr>
      <vt:lpstr>PowerPoint 演示文稿</vt:lpstr>
      <vt:lpstr>PowerPoint 演示文稿</vt:lpstr>
      <vt:lpstr>SPOC课程：上、下</vt:lpstr>
      <vt:lpstr>北理乐学</vt:lpstr>
      <vt:lpstr>DevC++ 下载</vt:lpstr>
      <vt:lpstr>PowerPoint 演示文稿</vt:lpstr>
      <vt:lpstr>PowerPoint 演示文稿</vt:lpstr>
      <vt:lpstr>How to learn it?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课程介绍</dc:title>
  <dc:creator>Sanyuan Zhao</dc:creator>
  <cp:lastModifiedBy>zhouq</cp:lastModifiedBy>
  <cp:revision>1115</cp:revision>
  <cp:lastPrinted>1995-12-08T18:33:00Z</cp:lastPrinted>
  <dcterms:created xsi:type="dcterms:W3CDTF">1998-09-27T15:28:00Z</dcterms:created>
  <dcterms:modified xsi:type="dcterms:W3CDTF">2026-03-03T16:06:19Z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CEAF6B15C5644C9B86987FC8AACACA5E</vt:lpwstr>
  </property>
</Properties>
</file>